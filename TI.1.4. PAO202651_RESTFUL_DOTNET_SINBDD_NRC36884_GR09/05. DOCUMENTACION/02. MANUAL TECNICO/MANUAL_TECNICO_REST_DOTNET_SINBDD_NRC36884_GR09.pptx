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7" r:id="rId9"/>
    <p:sldId id="270" r:id="rId10"/>
    <p:sldId id="272" r:id="rId11"/>
    <p:sldId id="273" r:id="rId12"/>
    <p:sldId id="274" r:id="rId13"/>
    <p:sldId id="275" r:id="rId14"/>
    <p:sldId id="279" r:id="rId15"/>
    <p:sldId id="280" r:id="rId16"/>
    <p:sldId id="281" r:id="rId17"/>
    <p:sldId id="283" r:id="rId18"/>
    <p:sldId id="284" r:id="rId19"/>
    <p:sldId id="288" r:id="rId20"/>
    <p:sldId id="289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301" r:id="rId29"/>
    <p:sldId id="302" r:id="rId30"/>
    <p:sldId id="303" r:id="rId31"/>
  </p:sldIdLst>
  <p:sldSz cx="12192000" cy="6858000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" panose="02040503050406030204" pitchFamily="18" charset="0"/>
      <p:regular r:id="rId37"/>
      <p:bold r:id="rId38"/>
      <p:italic r:id="rId39"/>
      <p:boldItalic r:id="rId40"/>
    </p:embeddedFont>
    <p:embeddedFont>
      <p:font typeface="Gill Sans" panose="020B0604020202020204" charset="0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hoWsaXMVBtv1HF1G3ccxKxe1iU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6d00c5b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d6d00c5b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62431389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g2d62431389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6243138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g2d6243138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62431389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2d62431389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62431389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2d62431389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624313899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6" name="Google Shape;246;g2d624313899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d624313899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g2d624313899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" name="Google Shape;2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1974b856cc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g31974b856c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1974b856cc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6" name="Google Shape;306;g31974b856cc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974b856cc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4" name="Google Shape;314;g31974b856c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d6d00c5bd2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2d6d00c5bd2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9782968e5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4" name="Google Shape;374;g319782968e5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9782968e5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2" name="Google Shape;382;g319782968e5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19782968e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8" name="Google Shape;398;g319782968e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9782968e5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8" name="Google Shape;408;g319782968e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9782968e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6" name="Google Shape;416;g319782968e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4" name="Google Shape;42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d624313899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5" name="Google Shape;435;g2d624313899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d624313899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3" name="Google Shape;443;g2d624313899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624313899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3" name="Google Shape;453;g2d624313899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d6d00c5bd2_3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1" name="Google Shape;491;g2d6d00c5bd2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0" name="Google Shape;50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7" name="Google Shape;50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7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8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9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50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0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2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4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5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5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5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55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5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4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4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4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4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4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pt-BR">
                <a:solidFill>
                  <a:schemeClr val="lt1"/>
                </a:solidFill>
              </a:rPr>
              <a:t>MANUAL TÉCNICO</a:t>
            </a:r>
            <a:br>
              <a:rPr lang="pt-BR">
                <a:solidFill>
                  <a:schemeClr val="lt1"/>
                </a:solidFill>
              </a:rPr>
            </a:br>
            <a:r>
              <a:rPr lang="pt-BR">
                <a:solidFill>
                  <a:schemeClr val="lt1"/>
                </a:solidFill>
              </a:rPr>
              <a:t>RESTFUL .NET SINBDD GR09</a:t>
            </a:r>
            <a:endParaRPr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INTEGRANTES: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GRUPO 09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NRC: 36884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98" name="Google Shape;98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7619999" y="5301801"/>
            <a:ext cx="4318000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28/10/2026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ASIGNATURA: ARQUITECTURA DE SOFTWARE</a:t>
            </a:r>
            <a:endParaRPr sz="1600" b="1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RESTFUL EN .NET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CONSOLA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ESCRITORIO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WEB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MÓVIL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2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1.1 OBJETIVO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lang="es-ES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Documentar el conversor RESTFUL .NET SINBDD: servidor y clientes de consola, WPF, web MVC y Android MAUI.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La solución usa C# y .NET 10. Autentica con Monster / Monster9 antes de convertir longitud, masa o temperatura.</a:t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d00c5bd2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g2d6d00c5bd2_0_0"/>
          <p:cNvSpPr txBox="1">
            <a:spLocks noGrp="1"/>
          </p:cNvSpPr>
          <p:nvPr>
            <p:ph type="body" idx="1"/>
          </p:nvPr>
        </p:nvSpPr>
        <p:spPr>
          <a:xfrm>
            <a:off x="581200" y="20320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 CREACIÓN DEL SERVIDOR RESTFUL</a:t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endParaRPr lang="es-ES" sz="1929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ASP.NET Core 10. HTTP/JSON en 127.0.0.1:19082.</a:t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Configura el entorno con ConfigurarEntornoDotNet.ps1.</a:t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Inicia 04. SERVIDOR\IniciarServidor.ps1.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2d6d00c5bd2_0_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Estructura inicial del servidor">
            <a:extLst>
              <a:ext uri="{FF2B5EF4-FFF2-40B4-BE49-F238E27FC236}">
                <a16:creationId xmlns:a16="http://schemas.microsoft.com/office/drawing/2014/main" id="{17E77EA3-1BEA-4179-BF94-998624423603}"/>
              </a:ext>
            </a:extLst>
          </p:cNvPr>
          <p:cNvSpPr/>
          <p:nvPr/>
        </p:nvSpPr>
        <p:spPr>
          <a:xfrm>
            <a:off x="6096000" y="3709191"/>
            <a:ext cx="3131854" cy="2179386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Estructura inicial del servidor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Configuración del endpoint y dependencias">
            <a:extLst>
              <a:ext uri="{FF2B5EF4-FFF2-40B4-BE49-F238E27FC236}">
                <a16:creationId xmlns:a16="http://schemas.microsoft.com/office/drawing/2014/main" id="{50ACFE48-E015-4B57-A8E4-FBBB537BEA49}"/>
              </a:ext>
            </a:extLst>
          </p:cNvPr>
          <p:cNvSpPr/>
          <p:nvPr/>
        </p:nvSpPr>
        <p:spPr>
          <a:xfrm>
            <a:off x="2953500" y="3716772"/>
            <a:ext cx="3480507" cy="216422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Configuración del endpoint y dependencias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Proyecto .NET del servidor y archivo .csproj">
            <a:extLst>
              <a:ext uri="{FF2B5EF4-FFF2-40B4-BE49-F238E27FC236}">
                <a16:creationId xmlns:a16="http://schemas.microsoft.com/office/drawing/2014/main" id="{BF619C64-20BD-4F4D-BA92-6F9DFDBD2226}"/>
              </a:ext>
            </a:extLst>
          </p:cNvPr>
          <p:cNvSpPr/>
          <p:nvPr/>
        </p:nvSpPr>
        <p:spPr>
          <a:xfrm>
            <a:off x="234986" y="3724354"/>
            <a:ext cx="3249332" cy="216422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Proyecto .NET del servidor y archivo .csproj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0" name="Google Shape;140;p9"/>
          <p:cNvSpPr txBox="1">
            <a:spLocks noGrp="1"/>
          </p:cNvSpPr>
          <p:nvPr>
            <p:ph type="body" idx="1"/>
          </p:nvPr>
        </p:nvSpPr>
        <p:spPr>
          <a:xfrm>
            <a:off x="581192" y="2180497"/>
            <a:ext cx="8589441" cy="124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1.2 CONTRATO RESTFUL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endParaRPr lang="es-ES" sz="135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Rutas: /api/auth/login, /api/catalogo, /api/conversiones/{magnitud} y /api/auth/logout.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JSON camelCase. Token Bearer de 10 minutos; OpenAPI en /openapi/v1.json.</a:t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Configuración del contrato y formato de respuesta">
            <a:extLst>
              <a:ext uri="{FF2B5EF4-FFF2-40B4-BE49-F238E27FC236}">
                <a16:creationId xmlns:a16="http://schemas.microsoft.com/office/drawing/2014/main" id="{C7E1E34B-54B3-4282-9A1E-9BDE3F598B2F}"/>
              </a:ext>
            </a:extLst>
          </p:cNvPr>
          <p:cNvSpPr/>
          <p:nvPr/>
        </p:nvSpPr>
        <p:spPr>
          <a:xfrm>
            <a:off x="3174120" y="3429000"/>
            <a:ext cx="5843760" cy="2964849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Configuración del contrato y formato de respuesta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Controladores y modelos JSON">
            <a:extLst>
              <a:ext uri="{FF2B5EF4-FFF2-40B4-BE49-F238E27FC236}">
                <a16:creationId xmlns:a16="http://schemas.microsoft.com/office/drawing/2014/main" id="{6227344A-0244-4E95-94DB-D55E648FE2B9}"/>
              </a:ext>
            </a:extLst>
          </p:cNvPr>
          <p:cNvSpPr/>
          <p:nvPr/>
        </p:nvSpPr>
        <p:spPr>
          <a:xfrm>
            <a:off x="916342" y="3401152"/>
            <a:ext cx="2105025" cy="88582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Controladores y modelos JSON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624313899_0_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9" name="Google Shape;149;g2d624313899_0_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ARQUITECTURA DEL SERVIDOR</a:t>
            </a: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endParaRPr lang="es-ES" sz="1677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Controladores publica operaciones; Servicios valida y coordina. Modelos contiene unidades y tipos de intercambio.</a:t>
            </a: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Cada conversor implementa IConversor&lt;TUnidad&gt;. Seguridad administra credenciales y tokens en memoria.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g2d624313899_0_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Carpetas Controladores, Servicios, Modelos y Seguridad">
            <a:extLst>
              <a:ext uri="{FF2B5EF4-FFF2-40B4-BE49-F238E27FC236}">
                <a16:creationId xmlns:a16="http://schemas.microsoft.com/office/drawing/2014/main" id="{454DCE1A-E548-4B0A-A877-3DAA336DC380}"/>
              </a:ext>
            </a:extLst>
          </p:cNvPr>
          <p:cNvSpPr/>
          <p:nvPr/>
        </p:nvSpPr>
        <p:spPr>
          <a:xfrm>
            <a:off x="5749937" y="2870106"/>
            <a:ext cx="3268557" cy="203358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Carpetas Controladores, Servicios, Modelos y Seguridad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581660" y="2108200"/>
            <a:ext cx="3048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PUBLICACIÓN DE LA API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Host local: 127.0.0.1:19082.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Aplicacion.cs registra los componentes y configura el contrato.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Consulta /api/salud y /openapi/v1.json. Las conversiones requieren el token.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Aplicacion.cs y registro del servidor">
            <a:extLst>
              <a:ext uri="{FF2B5EF4-FFF2-40B4-BE49-F238E27FC236}">
                <a16:creationId xmlns:a16="http://schemas.microsoft.com/office/drawing/2014/main" id="{AEDAC15D-A3D3-404F-9C5F-945CC788CB4C}"/>
              </a:ext>
            </a:extLst>
          </p:cNvPr>
          <p:cNvSpPr/>
          <p:nvPr/>
        </p:nvSpPr>
        <p:spPr>
          <a:xfrm>
            <a:off x="3875414" y="2817286"/>
            <a:ext cx="4441055" cy="361543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Aplicacion.cs y registro del servidor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624313899_0_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9" name="Google Shape;189;g2d624313899_0_71"/>
          <p:cNvSpPr txBox="1">
            <a:spLocks noGrp="1"/>
          </p:cNvSpPr>
          <p:nvPr>
            <p:ph type="body" idx="1"/>
          </p:nvPr>
        </p:nvSpPr>
        <p:spPr>
          <a:xfrm>
            <a:off x="684530" y="1921510"/>
            <a:ext cx="60186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140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PRUEBAS DEL SERVICIO</a:t>
            </a: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0" name="Google Shape;190;g2d624313899_0_7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Respuesta o error del servicio">
            <a:extLst>
              <a:ext uri="{FF2B5EF4-FFF2-40B4-BE49-F238E27FC236}">
                <a16:creationId xmlns:a16="http://schemas.microsoft.com/office/drawing/2014/main" id="{B2C4A3B8-9E3D-4E18-9BFA-696E1A7A9839}"/>
              </a:ext>
            </a:extLst>
          </p:cNvPr>
          <p:cNvSpPr/>
          <p:nvPr/>
        </p:nvSpPr>
        <p:spPr>
          <a:xfrm>
            <a:off x="5818100" y="4415104"/>
            <a:ext cx="2808980" cy="207069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Respuesta o error del servicio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Conversión de masa">
            <a:extLst>
              <a:ext uri="{FF2B5EF4-FFF2-40B4-BE49-F238E27FC236}">
                <a16:creationId xmlns:a16="http://schemas.microsoft.com/office/drawing/2014/main" id="{465518C2-7DAD-4640-87B0-13850D7F0BF1}"/>
              </a:ext>
            </a:extLst>
          </p:cNvPr>
          <p:cNvSpPr/>
          <p:nvPr/>
        </p:nvSpPr>
        <p:spPr>
          <a:xfrm>
            <a:off x="2961150" y="4415104"/>
            <a:ext cx="2761232" cy="217265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Conversión de masa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Prueba de inicio de sesión">
            <a:extLst>
              <a:ext uri="{FF2B5EF4-FFF2-40B4-BE49-F238E27FC236}">
                <a16:creationId xmlns:a16="http://schemas.microsoft.com/office/drawing/2014/main" id="{C0532E73-4590-4CA0-9537-FB9AAEE1A6CE}"/>
              </a:ext>
            </a:extLst>
          </p:cNvPr>
          <p:cNvSpPr/>
          <p:nvPr/>
        </p:nvSpPr>
        <p:spPr>
          <a:xfrm>
            <a:off x="330934" y="4415104"/>
            <a:ext cx="2630216" cy="200899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Prueba de inicio de sesión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5" name="CAPTURA PENDIENTE - Conversión de temperatura">
            <a:extLst>
              <a:ext uri="{FF2B5EF4-FFF2-40B4-BE49-F238E27FC236}">
                <a16:creationId xmlns:a16="http://schemas.microsoft.com/office/drawing/2014/main" id="{2D1CD486-4A7B-4EB5-9791-8DAA5B3291E4}"/>
              </a:ext>
            </a:extLst>
          </p:cNvPr>
          <p:cNvSpPr/>
          <p:nvPr/>
        </p:nvSpPr>
        <p:spPr>
          <a:xfrm>
            <a:off x="4671319" y="1994161"/>
            <a:ext cx="2849245" cy="207581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Conversión de temperatura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6" name="CAPTURA PENDIENTE - Conversión de longitud">
            <a:extLst>
              <a:ext uri="{FF2B5EF4-FFF2-40B4-BE49-F238E27FC236}">
                <a16:creationId xmlns:a16="http://schemas.microsoft.com/office/drawing/2014/main" id="{CEB29770-1EED-4DD7-8C23-D733A4854BCB}"/>
              </a:ext>
            </a:extLst>
          </p:cNvPr>
          <p:cNvSpPr/>
          <p:nvPr/>
        </p:nvSpPr>
        <p:spPr>
          <a:xfrm>
            <a:off x="679863" y="2724790"/>
            <a:ext cx="3776665" cy="1345186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Conversión de longitud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624313899_0_5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g2d624313899_0_51"/>
          <p:cNvSpPr txBox="1">
            <a:spLocks noGrp="1"/>
          </p:cNvSpPr>
          <p:nvPr>
            <p:ph type="body" idx="1"/>
          </p:nvPr>
        </p:nvSpPr>
        <p:spPr>
          <a:xfrm>
            <a:off x="581200" y="2032000"/>
            <a:ext cx="8245500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1.3 CLIENTE CONSOLA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S"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Cliente net10.0. Aplicacion.cs inicia ControladorConsola; MVC separa la comunicación remota.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g2d624313899_0_5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Configuración de ClienteConsolaGR09">
            <a:extLst>
              <a:ext uri="{FF2B5EF4-FFF2-40B4-BE49-F238E27FC236}">
                <a16:creationId xmlns:a16="http://schemas.microsoft.com/office/drawing/2014/main" id="{470F980C-FB47-44A7-A8A8-971BCFC63D51}"/>
              </a:ext>
            </a:extLst>
          </p:cNvPr>
          <p:cNvSpPr/>
          <p:nvPr/>
        </p:nvSpPr>
        <p:spPr>
          <a:xfrm>
            <a:off x="4740234" y="3657435"/>
            <a:ext cx="4201160" cy="284543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Configuración de ClienteConsolaGR09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Proyecto net10.0 de consola">
            <a:extLst>
              <a:ext uri="{FF2B5EF4-FFF2-40B4-BE49-F238E27FC236}">
                <a16:creationId xmlns:a16="http://schemas.microsoft.com/office/drawing/2014/main" id="{85E12E47-F5C4-4ED2-9344-5707D2189E30}"/>
              </a:ext>
            </a:extLst>
          </p:cNvPr>
          <p:cNvSpPr/>
          <p:nvPr/>
        </p:nvSpPr>
        <p:spPr>
          <a:xfrm>
            <a:off x="466506" y="3674580"/>
            <a:ext cx="4144010" cy="282829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Proyecto net10.0 de consola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624313899_0_9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9" name="Google Shape;239;g2d624313899_0_95"/>
          <p:cNvSpPr txBox="1">
            <a:spLocks noGrp="1"/>
          </p:cNvSpPr>
          <p:nvPr>
            <p:ph type="body" idx="1"/>
          </p:nvPr>
        </p:nvSpPr>
        <p:spPr>
          <a:xfrm>
            <a:off x="514824" y="91462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Modelo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Los tipos de Modelos representan sesión, unidades y resultados.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0" name="Google Shape;240;g2d624313899_0_9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2d624313899_0_95"/>
          <p:cNvSpPr txBox="1">
            <a:spLocks noGrp="1"/>
          </p:cNvSpPr>
          <p:nvPr>
            <p:ph type="body" idx="1"/>
          </p:nvPr>
        </p:nvSpPr>
        <p:spPr>
          <a:xfrm>
            <a:off x="4759292" y="77006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Controlador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ControladorConsola coordina acceso, conversión y salida mediante el adaptador.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ontroladorConsola y adaptador">
            <a:extLst>
              <a:ext uri="{FF2B5EF4-FFF2-40B4-BE49-F238E27FC236}">
                <a16:creationId xmlns:a16="http://schemas.microsoft.com/office/drawing/2014/main" id="{EC1BEABE-3CC2-47C6-878A-D718228FE067}"/>
              </a:ext>
            </a:extLst>
          </p:cNvPr>
          <p:cNvSpPr/>
          <p:nvPr/>
        </p:nvSpPr>
        <p:spPr>
          <a:xfrm>
            <a:off x="4100618" y="4064763"/>
            <a:ext cx="5172027" cy="1777483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ControladorConsola y adaptador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Modelos de sesión y conversión">
            <a:extLst>
              <a:ext uri="{FF2B5EF4-FFF2-40B4-BE49-F238E27FC236}">
                <a16:creationId xmlns:a16="http://schemas.microsoft.com/office/drawing/2014/main" id="{F56BC7F3-638C-483C-977F-A1DD0317B91F}"/>
              </a:ext>
            </a:extLst>
          </p:cNvPr>
          <p:cNvSpPr/>
          <p:nvPr/>
        </p:nvSpPr>
        <p:spPr>
          <a:xfrm>
            <a:off x="811793" y="4064763"/>
            <a:ext cx="2955257" cy="185048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Modelos de sesión y conversión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d624313899_0_1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9" name="Google Shape;249;g2d624313899_0_111"/>
          <p:cNvSpPr txBox="1">
            <a:spLocks noGrp="1"/>
          </p:cNvSpPr>
          <p:nvPr>
            <p:ph type="body" idx="1"/>
          </p:nvPr>
        </p:nvSpPr>
        <p:spPr>
          <a:xfrm>
            <a:off x="581660" y="2921000"/>
            <a:ext cx="3429000" cy="18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VistaConsola solicita acceso, unidades y valor; muestra resultados y errores.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0" name="Google Shape;250;g2d624313899_0_11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VistaConsola.cs y menú">
            <a:extLst>
              <a:ext uri="{FF2B5EF4-FFF2-40B4-BE49-F238E27FC236}">
                <a16:creationId xmlns:a16="http://schemas.microsoft.com/office/drawing/2014/main" id="{7ED2DC89-90CA-4D4C-8DDE-39E28A817C05}"/>
              </a:ext>
            </a:extLst>
          </p:cNvPr>
          <p:cNvSpPr/>
          <p:nvPr/>
        </p:nvSpPr>
        <p:spPr>
          <a:xfrm>
            <a:off x="4361215" y="2617179"/>
            <a:ext cx="4878474" cy="2609244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VistaConsola.cs y menú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624313899_0_1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7" name="Google Shape;257;g2d624313899_0_138"/>
          <p:cNvSpPr txBox="1">
            <a:spLocks noGrp="1"/>
          </p:cNvSpPr>
          <p:nvPr>
            <p:ph type="body" idx="1"/>
          </p:nvPr>
        </p:nvSpPr>
        <p:spPr>
          <a:xfrm>
            <a:off x="581660" y="1930400"/>
            <a:ext cx="24130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Ejecución del Proyecto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8" name="Google Shape;258;g2d624313899_0_13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Resultado de conversión">
            <a:extLst>
              <a:ext uri="{FF2B5EF4-FFF2-40B4-BE49-F238E27FC236}">
                <a16:creationId xmlns:a16="http://schemas.microsoft.com/office/drawing/2014/main" id="{E21B58B1-4044-4DC0-8DA3-EB703ACEED95}"/>
              </a:ext>
            </a:extLst>
          </p:cNvPr>
          <p:cNvSpPr/>
          <p:nvPr/>
        </p:nvSpPr>
        <p:spPr>
          <a:xfrm>
            <a:off x="6143877" y="3004463"/>
            <a:ext cx="2928406" cy="264367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Resultado de conversión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Selección de magnitud y unidades">
            <a:extLst>
              <a:ext uri="{FF2B5EF4-FFF2-40B4-BE49-F238E27FC236}">
                <a16:creationId xmlns:a16="http://schemas.microsoft.com/office/drawing/2014/main" id="{E4CAECE9-3FFC-4C88-A4D5-375779427E2C}"/>
              </a:ext>
            </a:extLst>
          </p:cNvPr>
          <p:cNvSpPr/>
          <p:nvPr/>
        </p:nvSpPr>
        <p:spPr>
          <a:xfrm>
            <a:off x="3227647" y="3004463"/>
            <a:ext cx="2808301" cy="264367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Selección de magnitud y unidades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Inicio de consola">
            <a:extLst>
              <a:ext uri="{FF2B5EF4-FFF2-40B4-BE49-F238E27FC236}">
                <a16:creationId xmlns:a16="http://schemas.microsoft.com/office/drawing/2014/main" id="{3A66B1A8-66BC-4834-9397-19290233A0F8}"/>
              </a:ext>
            </a:extLst>
          </p:cNvPr>
          <p:cNvSpPr/>
          <p:nvPr/>
        </p:nvSpPr>
        <p:spPr>
          <a:xfrm>
            <a:off x="311657" y="3004463"/>
            <a:ext cx="2808061" cy="264367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Inicio de consola</a:t>
            </a:r>
          </a:p>
        </p:txBody>
      </p:sp>
      <p:sp>
        <p:nvSpPr>
          <p:cNvPr id="5" name="CAPTURA PENDIENTE - Inicio de sesión válido">
            <a:extLst>
              <a:ext uri="{FF2B5EF4-FFF2-40B4-BE49-F238E27FC236}">
                <a16:creationId xmlns:a16="http://schemas.microsoft.com/office/drawing/2014/main" id="{177E390A-90F6-42BA-A0CF-1B58A0837155}"/>
              </a:ext>
            </a:extLst>
          </p:cNvPr>
          <p:cNvSpPr/>
          <p:nvPr/>
        </p:nvSpPr>
        <p:spPr>
          <a:xfrm>
            <a:off x="3227647" y="1933668"/>
            <a:ext cx="2868295" cy="80327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Inicio de sesión válido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7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1.4 CLIENTE ESCRITORIO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endParaRPr lang="es-ES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WPF net10.0-windows. VentanaPrincipal.xaml delega operaciones en ControladorConversor.</a:t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Proyecto WPF net10.0-windows">
            <a:extLst>
              <a:ext uri="{FF2B5EF4-FFF2-40B4-BE49-F238E27FC236}">
                <a16:creationId xmlns:a16="http://schemas.microsoft.com/office/drawing/2014/main" id="{663269E7-24D7-4AA2-A226-27FB469FF3D9}"/>
              </a:ext>
            </a:extLst>
          </p:cNvPr>
          <p:cNvSpPr/>
          <p:nvPr/>
        </p:nvSpPr>
        <p:spPr>
          <a:xfrm>
            <a:off x="2544819" y="3270983"/>
            <a:ext cx="4144010" cy="282829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Proyecto WPF net10.0-windows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974b856cc_0_10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1" name="Google Shape;301;g31974b856cc_0_10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1974b856cc_0_109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WPF organiza modelos, vistas XAML, controladores y servicios remotos mediante MVC.</a:t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4F47827-A8E1-4FFA-A232-83861B9D7BF5}"/>
              </a:ext>
            </a:extLst>
          </p:cNvPr>
          <p:cNvSpPr txBox="1"/>
          <p:nvPr/>
        </p:nvSpPr>
        <p:spPr>
          <a:xfrm>
            <a:off x="762109" y="3269217"/>
            <a:ext cx="1712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Modelo: sesión y conversión.</a:t>
            </a:r>
            <a:endParaRPr lang="es-EC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AE216B3-B851-4BA3-899E-396EB3A18BA2}"/>
              </a:ext>
            </a:extLst>
          </p:cNvPr>
          <p:cNvSpPr txBox="1"/>
          <p:nvPr/>
        </p:nvSpPr>
        <p:spPr>
          <a:xfrm>
            <a:off x="6214191" y="4553152"/>
            <a:ext cx="26333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Controlador: comprueba sesión y llama al adaptador.</a:t>
            </a:r>
            <a:endParaRPr lang="es-EC" dirty="0"/>
          </a:p>
        </p:txBody>
      </p:sp>
      <p:sp>
        <p:nvSpPr>
          <p:cNvPr id="2" name="CAPTURA PENDIENTE - Carpetas MVC del escritorio">
            <a:extLst>
              <a:ext uri="{FF2B5EF4-FFF2-40B4-BE49-F238E27FC236}">
                <a16:creationId xmlns:a16="http://schemas.microsoft.com/office/drawing/2014/main" id="{3E48AA06-D457-4923-9F04-A4D9C744287E}"/>
              </a:ext>
            </a:extLst>
          </p:cNvPr>
          <p:cNvSpPr/>
          <p:nvPr/>
        </p:nvSpPr>
        <p:spPr>
          <a:xfrm>
            <a:off x="2474259" y="4377212"/>
            <a:ext cx="3666875" cy="235536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Carpetas MVC del escritorio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Adaptador remoto del escritorio">
            <a:extLst>
              <a:ext uri="{FF2B5EF4-FFF2-40B4-BE49-F238E27FC236}">
                <a16:creationId xmlns:a16="http://schemas.microsoft.com/office/drawing/2014/main" id="{43BF684B-EF2E-4949-AFE7-D0BD1F0D762A}"/>
              </a:ext>
            </a:extLst>
          </p:cNvPr>
          <p:cNvSpPr/>
          <p:nvPr/>
        </p:nvSpPr>
        <p:spPr>
          <a:xfrm>
            <a:off x="5925023" y="3893361"/>
            <a:ext cx="2743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Adaptador remoto del escritorio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Modelos del escritorio">
            <a:extLst>
              <a:ext uri="{FF2B5EF4-FFF2-40B4-BE49-F238E27FC236}">
                <a16:creationId xmlns:a16="http://schemas.microsoft.com/office/drawing/2014/main" id="{111AEBB2-3286-4EF1-88DC-095C99C56314}"/>
              </a:ext>
            </a:extLst>
          </p:cNvPr>
          <p:cNvSpPr/>
          <p:nvPr/>
        </p:nvSpPr>
        <p:spPr>
          <a:xfrm>
            <a:off x="2611811" y="3836431"/>
            <a:ext cx="2476500" cy="3429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Modelos del escritorio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5" name="CAPTURA PENDIENTE - ControladorConversor.cs">
            <a:extLst>
              <a:ext uri="{FF2B5EF4-FFF2-40B4-BE49-F238E27FC236}">
                <a16:creationId xmlns:a16="http://schemas.microsoft.com/office/drawing/2014/main" id="{BFE6003C-75DA-45A6-B0A3-DFE0CFC4C742}"/>
              </a:ext>
            </a:extLst>
          </p:cNvPr>
          <p:cNvSpPr/>
          <p:nvPr/>
        </p:nvSpPr>
        <p:spPr>
          <a:xfrm>
            <a:off x="5088311" y="2609850"/>
            <a:ext cx="3019425" cy="10287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ControladorConversor.cs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974b856cc_0_1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9" name="Google Shape;309;g31974b856cc_0_1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1974b856cc_0_128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VentanaPrincipal.xaml contiene los controles de acceso y conversión. El código asociado gestiona eventos y actualiza la vista con resultados y errores.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VentanaPrincipal.xaml y controles WPF">
            <a:extLst>
              <a:ext uri="{FF2B5EF4-FFF2-40B4-BE49-F238E27FC236}">
                <a16:creationId xmlns:a16="http://schemas.microsoft.com/office/drawing/2014/main" id="{FD6BCCEA-27B7-4124-B944-480E5C1E86BF}"/>
              </a:ext>
            </a:extLst>
          </p:cNvPr>
          <p:cNvSpPr/>
          <p:nvPr/>
        </p:nvSpPr>
        <p:spPr>
          <a:xfrm>
            <a:off x="699248" y="2831802"/>
            <a:ext cx="8424537" cy="3324041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VentanaPrincipal.xaml y controles WPF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974b856cc_0_1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7" name="Google Shape;317;g31974b856cc_0_1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1974b856cc_0_137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Acceso del cliente WPF. Las credenciales iniciales exactas son Monster / Monster9. Una sesión válida habilita las conversiones.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Acceso del cliente WPF">
            <a:extLst>
              <a:ext uri="{FF2B5EF4-FFF2-40B4-BE49-F238E27FC236}">
                <a16:creationId xmlns:a16="http://schemas.microsoft.com/office/drawing/2014/main" id="{091CA7AD-0B4C-4DD1-82AB-5CD1430BF9D4}"/>
              </a:ext>
            </a:extLst>
          </p:cNvPr>
          <p:cNvSpPr/>
          <p:nvPr/>
        </p:nvSpPr>
        <p:spPr>
          <a:xfrm>
            <a:off x="581192" y="2329030"/>
            <a:ext cx="5218973" cy="3336664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Acceso del cliente WPF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d6d00c5bd2_2_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5" name="Google Shape;335;g2d6d00c5bd2_2_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2d6d00c5bd2_2_19"/>
          <p:cNvSpPr txBox="1">
            <a:spLocks noGrp="1"/>
          </p:cNvSpPr>
          <p:nvPr>
            <p:ph type="body" idx="1"/>
          </p:nvPr>
        </p:nvSpPr>
        <p:spPr>
          <a:xfrm>
            <a:off x="5791950" y="2411875"/>
            <a:ext cx="32289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Selecciona magnitud y unidades e ingresa el valor. ControladorConversor solicita la operación al servicio y devuelve el resultado a la ventana.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onversión desde WPF">
            <a:extLst>
              <a:ext uri="{FF2B5EF4-FFF2-40B4-BE49-F238E27FC236}">
                <a16:creationId xmlns:a16="http://schemas.microsoft.com/office/drawing/2014/main" id="{8127F732-C93D-4E2A-B778-8E58DD31545F}"/>
              </a:ext>
            </a:extLst>
          </p:cNvPr>
          <p:cNvSpPr/>
          <p:nvPr/>
        </p:nvSpPr>
        <p:spPr>
          <a:xfrm>
            <a:off x="1131103" y="2513572"/>
            <a:ext cx="3898097" cy="3116263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Conversión desde WPF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43" name="Google Shape;343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2"/>
          <p:cNvSpPr txBox="1"/>
          <p:nvPr/>
        </p:nvSpPr>
        <p:spPr>
          <a:xfrm>
            <a:off x="636600" y="1868348"/>
            <a:ext cx="8576700" cy="18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1.5 CLIENTE WEB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es-ES" sz="1800" b="1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ASP.NET Core MVC utiliza ControladorInicio, modelos, vistas Razor y un adaptador en Servicios.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El perfil de lanzamiento escucha en http://127.0.0.1:5082.</a:t>
            </a:r>
            <a:endParaRPr sz="2000" dirty="0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Aplicacion.cs y configuración de sesión">
            <a:extLst>
              <a:ext uri="{FF2B5EF4-FFF2-40B4-BE49-F238E27FC236}">
                <a16:creationId xmlns:a16="http://schemas.microsoft.com/office/drawing/2014/main" id="{1ED333B1-B57A-47DA-B5B8-5256D401FF3B}"/>
              </a:ext>
            </a:extLst>
          </p:cNvPr>
          <p:cNvSpPr/>
          <p:nvPr/>
        </p:nvSpPr>
        <p:spPr>
          <a:xfrm>
            <a:off x="3863999" y="3524211"/>
            <a:ext cx="4959666" cy="3037954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Aplicacion.cs y configuración de sesión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Estructura ASP.NET Core MVC">
            <a:extLst>
              <a:ext uri="{FF2B5EF4-FFF2-40B4-BE49-F238E27FC236}">
                <a16:creationId xmlns:a16="http://schemas.microsoft.com/office/drawing/2014/main" id="{D4EC0DD7-0BA2-43B1-9C3E-B21DA267F73A}"/>
              </a:ext>
            </a:extLst>
          </p:cNvPr>
          <p:cNvSpPr/>
          <p:nvPr/>
        </p:nvSpPr>
        <p:spPr>
          <a:xfrm>
            <a:off x="1211356" y="3839056"/>
            <a:ext cx="2095500" cy="56197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Estructura ASP.NET Core MVC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19782968e5_0_8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7" name="Google Shape;377;g319782968e5_0_8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19782968e5_0_88"/>
          <p:cNvSpPr txBox="1">
            <a:spLocks noGrp="1"/>
          </p:cNvSpPr>
          <p:nvPr>
            <p:ph type="body" idx="1"/>
          </p:nvPr>
        </p:nvSpPr>
        <p:spPr>
          <a:xfrm>
            <a:off x="581200" y="19444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Convertir.cshtml presenta unidades y resultado. ControladorInicio usa ClienteRest y conserva el token en sesión HTTP.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EBFFD51-1503-4BCA-8CB9-C70596A06975}"/>
              </a:ext>
            </a:extLst>
          </p:cNvPr>
          <p:cNvSpPr txBox="1"/>
          <p:nvPr/>
        </p:nvSpPr>
        <p:spPr>
          <a:xfrm>
            <a:off x="719417" y="4185628"/>
            <a:ext cx="26244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sym typeface="Gill Sans"/>
              </a:rPr>
              <a:t>El formulario Razor llama a la acción MVC y muestra el resultado.</a:t>
            </a:r>
            <a:endParaRPr lang="es-EC" dirty="0"/>
          </a:p>
        </p:txBody>
      </p:sp>
      <p:sp>
        <p:nvSpPr>
          <p:cNvPr id="2" name="CAPTURA PENDIENTE - Controlador y respuesta de conversión">
            <a:extLst>
              <a:ext uri="{FF2B5EF4-FFF2-40B4-BE49-F238E27FC236}">
                <a16:creationId xmlns:a16="http://schemas.microsoft.com/office/drawing/2014/main" id="{50F1EE2D-3E68-4D94-93CB-4966AFFED2EE}"/>
              </a:ext>
            </a:extLst>
          </p:cNvPr>
          <p:cNvSpPr/>
          <p:nvPr/>
        </p:nvSpPr>
        <p:spPr>
          <a:xfrm>
            <a:off x="3679277" y="3132944"/>
            <a:ext cx="3959600" cy="354539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Controlador y respuesta de conversión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Formulario Razor de conversión">
            <a:extLst>
              <a:ext uri="{FF2B5EF4-FFF2-40B4-BE49-F238E27FC236}">
                <a16:creationId xmlns:a16="http://schemas.microsoft.com/office/drawing/2014/main" id="{5324AC23-B32E-46E5-90FD-3A5E7DF924FA}"/>
              </a:ext>
            </a:extLst>
          </p:cNvPr>
          <p:cNvSpPr/>
          <p:nvPr/>
        </p:nvSpPr>
        <p:spPr>
          <a:xfrm>
            <a:off x="841168" y="3132944"/>
            <a:ext cx="1448002" cy="905001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Formulario Razor de conversión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19782968e5_0_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85" name="Google Shape;385;g319782968e5_0_7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19782968e5_0_73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IniciarSesion.cshtml envía credenciales a ControladorInicio. La acción autentica y almacena el token para las conversiones.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Formulario Razor de acceso">
            <a:extLst>
              <a:ext uri="{FF2B5EF4-FFF2-40B4-BE49-F238E27FC236}">
                <a16:creationId xmlns:a16="http://schemas.microsoft.com/office/drawing/2014/main" id="{3F838D8B-14B2-4CD8-9567-BA215EFD5B81}"/>
              </a:ext>
            </a:extLst>
          </p:cNvPr>
          <p:cNvSpPr/>
          <p:nvPr/>
        </p:nvSpPr>
        <p:spPr>
          <a:xfrm>
            <a:off x="2804070" y="2850777"/>
            <a:ext cx="4143559" cy="3708703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Formulario Razor de acceso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9782968e5_0_11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01" name="Google Shape;401;g319782968e5_0_11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19782968e5_0_112"/>
          <p:cNvSpPr txBox="1">
            <a:spLocks noGrp="1"/>
          </p:cNvSpPr>
          <p:nvPr>
            <p:ph type="body" idx="1"/>
          </p:nvPr>
        </p:nvSpPr>
        <p:spPr>
          <a:xfrm>
            <a:off x="1039100" y="1913200"/>
            <a:ext cx="8038500" cy="18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Inicia primero el servidor y después el cliente web. Abre http://127.0.0.1:5082 y revisa la pantalla de acceso antes de convertir.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liente web ejecutándose">
            <a:extLst>
              <a:ext uri="{FF2B5EF4-FFF2-40B4-BE49-F238E27FC236}">
                <a16:creationId xmlns:a16="http://schemas.microsoft.com/office/drawing/2014/main" id="{3BC82B9D-141E-4A6F-B487-EA586761DCF3}"/>
              </a:ext>
            </a:extLst>
          </p:cNvPr>
          <p:cNvSpPr/>
          <p:nvPr/>
        </p:nvSpPr>
        <p:spPr>
          <a:xfrm>
            <a:off x="3135268" y="3257334"/>
            <a:ext cx="3200847" cy="3086531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Cliente web ejecutándose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19782968e5_0_1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1" name="Google Shape;411;g319782968e5_0_1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19782968e5_0_135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Inicia sesión con Monster / Monster9. Si el token caduca, vuelve a autenticarte antes de solicitar una conversión.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Inicio de sesión web">
            <a:extLst>
              <a:ext uri="{FF2B5EF4-FFF2-40B4-BE49-F238E27FC236}">
                <a16:creationId xmlns:a16="http://schemas.microsoft.com/office/drawing/2014/main" id="{C394E801-C15E-45DC-B260-08AA3ABADAE5}"/>
              </a:ext>
            </a:extLst>
          </p:cNvPr>
          <p:cNvSpPr/>
          <p:nvPr/>
        </p:nvSpPr>
        <p:spPr>
          <a:xfrm>
            <a:off x="803359" y="2804085"/>
            <a:ext cx="5399405" cy="27559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Inicio de sesión web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19782968e5_0_1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9" name="Google Shape;419;g319782968e5_0_1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19782968e5_0_123"/>
          <p:cNvSpPr txBox="1">
            <a:spLocks noGrp="1"/>
          </p:cNvSpPr>
          <p:nvPr>
            <p:ph type="body" idx="1"/>
          </p:nvPr>
        </p:nvSpPr>
        <p:spPr>
          <a:xfrm>
            <a:off x="581200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La vista permite seleccionar longitud, masa o temperatura. El catálogo actual contiene siete unidades de longitud, siete de masa y seis de temperatura.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onversión desde el navegador">
            <a:extLst>
              <a:ext uri="{FF2B5EF4-FFF2-40B4-BE49-F238E27FC236}">
                <a16:creationId xmlns:a16="http://schemas.microsoft.com/office/drawing/2014/main" id="{9BC455B7-E39D-443C-87AE-7A64222F6181}"/>
              </a:ext>
            </a:extLst>
          </p:cNvPr>
          <p:cNvSpPr/>
          <p:nvPr/>
        </p:nvSpPr>
        <p:spPr>
          <a:xfrm>
            <a:off x="3686896" y="2718547"/>
            <a:ext cx="5399405" cy="281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Conversión desde el navegador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27" name="Google Shape;427;p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7"/>
          <p:cNvSpPr txBox="1"/>
          <p:nvPr/>
        </p:nvSpPr>
        <p:spPr>
          <a:xfrm>
            <a:off x="406975" y="1921878"/>
            <a:ext cx="85767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1.6 CLIENTE MÓVIL</a:t>
            </a:r>
            <a:endParaRPr sz="1800" b="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9" name="Google Shape;429;p37"/>
          <p:cNvSpPr txBox="1">
            <a:spLocks noGrp="1"/>
          </p:cNvSpPr>
          <p:nvPr>
            <p:ph type="body" idx="1"/>
          </p:nvPr>
        </p:nvSpPr>
        <p:spPr>
          <a:xfrm>
            <a:off x="581200" y="2253923"/>
            <a:ext cx="41781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La aplicación es .NET MAUI con XAML y C#, destino net10.0-android. Usa el SDK Android y JDK configurados por el proyecto.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El emulador accede al equipo anfitrión con 10.0.2.2; revisa la URL del adaptador.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Proyecto .NET MAUI Android">
            <a:extLst>
              <a:ext uri="{FF2B5EF4-FFF2-40B4-BE49-F238E27FC236}">
                <a16:creationId xmlns:a16="http://schemas.microsoft.com/office/drawing/2014/main" id="{50C86C09-A255-49F6-9411-BB349FB96D6B}"/>
              </a:ext>
            </a:extLst>
          </p:cNvPr>
          <p:cNvSpPr/>
          <p:nvPr/>
        </p:nvSpPr>
        <p:spPr>
          <a:xfrm>
            <a:off x="904275" y="5528800"/>
            <a:ext cx="4335775" cy="59955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Proyecto .NET MAUI Android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Configuración Android y net10.0-android">
            <a:extLst>
              <a:ext uri="{FF2B5EF4-FFF2-40B4-BE49-F238E27FC236}">
                <a16:creationId xmlns:a16="http://schemas.microsoft.com/office/drawing/2014/main" id="{25DA522F-0895-4629-81B9-37D7BCB50BF3}"/>
              </a:ext>
            </a:extLst>
          </p:cNvPr>
          <p:cNvSpPr/>
          <p:nvPr/>
        </p:nvSpPr>
        <p:spPr>
          <a:xfrm>
            <a:off x="5410937" y="4209124"/>
            <a:ext cx="3622500" cy="191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Configuración Android y net10.0-android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SDK Manager y emulador Android">
            <a:extLst>
              <a:ext uri="{FF2B5EF4-FFF2-40B4-BE49-F238E27FC236}">
                <a16:creationId xmlns:a16="http://schemas.microsoft.com/office/drawing/2014/main" id="{554899BC-2CDC-4865-BB5B-01E3D2D8969A}"/>
              </a:ext>
            </a:extLst>
          </p:cNvPr>
          <p:cNvSpPr/>
          <p:nvPr/>
        </p:nvSpPr>
        <p:spPr>
          <a:xfrm>
            <a:off x="6418749" y="2402189"/>
            <a:ext cx="1606875" cy="169185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SDK Manager y emulador Android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d624313899_0_15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38" name="Google Shape;438;g2d624313899_0_15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2d624313899_0_157"/>
          <p:cNvSpPr txBox="1">
            <a:spLocks noGrp="1"/>
          </p:cNvSpPr>
          <p:nvPr>
            <p:ph type="body" idx="1"/>
          </p:nvPr>
        </p:nvSpPr>
        <p:spPr>
          <a:xfrm>
            <a:off x="581200" y="2253925"/>
            <a:ext cx="3644100" cy="3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Estructura del Proyecto (MVC)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Modelos representa datos y sesión. Vistas contiene PaginaPrincipal.xaml; Controladores coordina el flujo y Servicios contiene el adaptador.</a:t>
            </a:r>
            <a:endParaRPr lang="es-EC" sz="1564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arpetas MVC del móvil">
            <a:extLst>
              <a:ext uri="{FF2B5EF4-FFF2-40B4-BE49-F238E27FC236}">
                <a16:creationId xmlns:a16="http://schemas.microsoft.com/office/drawing/2014/main" id="{112061D5-DCD0-40EF-968A-DFC2D04FA81D}"/>
              </a:ext>
            </a:extLst>
          </p:cNvPr>
          <p:cNvSpPr/>
          <p:nvPr/>
        </p:nvSpPr>
        <p:spPr>
          <a:xfrm>
            <a:off x="4741537" y="2559253"/>
            <a:ext cx="3225165" cy="3159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Carpetas MVC del móvil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d624313899_0_1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46" name="Google Shape;446;g2d624313899_0_17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2d624313899_0_172"/>
          <p:cNvSpPr txBox="1">
            <a:spLocks noGrp="1"/>
          </p:cNvSpPr>
          <p:nvPr>
            <p:ph type="body" idx="1"/>
          </p:nvPr>
        </p:nvSpPr>
        <p:spPr>
          <a:xfrm>
            <a:off x="491075" y="2222500"/>
            <a:ext cx="38886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Servicio: ClienteRest.cs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HttpClient y System.Text.Json envían solicitudes y procesan respuestas JSON.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8" name="Google Shape;448;g2d624313899_0_172"/>
          <p:cNvSpPr txBox="1">
            <a:spLocks noGrp="1"/>
          </p:cNvSpPr>
          <p:nvPr>
            <p:ph type="body" idx="1"/>
          </p:nvPr>
        </p:nvSpPr>
        <p:spPr>
          <a:xfrm>
            <a:off x="4698075" y="2222500"/>
            <a:ext cx="38886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Controlador: ControladorConversor.cs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Conserva la sesión y delega las conversiones en el adaptador remoto.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ontroladorConversor.cs del móvil">
            <a:extLst>
              <a:ext uri="{FF2B5EF4-FFF2-40B4-BE49-F238E27FC236}">
                <a16:creationId xmlns:a16="http://schemas.microsoft.com/office/drawing/2014/main" id="{4B592B61-C742-4195-8165-417B6E42D4FC}"/>
              </a:ext>
            </a:extLst>
          </p:cNvPr>
          <p:cNvSpPr/>
          <p:nvPr/>
        </p:nvSpPr>
        <p:spPr>
          <a:xfrm>
            <a:off x="4980331" y="3710940"/>
            <a:ext cx="3802710" cy="284836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ControladorConversor.cs del móvil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ClienteRest.cs del móvil">
            <a:extLst>
              <a:ext uri="{FF2B5EF4-FFF2-40B4-BE49-F238E27FC236}">
                <a16:creationId xmlns:a16="http://schemas.microsoft.com/office/drawing/2014/main" id="{E833F513-8033-4416-9E1E-E4BA1533EA86}"/>
              </a:ext>
            </a:extLst>
          </p:cNvPr>
          <p:cNvSpPr/>
          <p:nvPr/>
        </p:nvSpPr>
        <p:spPr>
          <a:xfrm>
            <a:off x="491075" y="3711388"/>
            <a:ext cx="3478914" cy="225971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ClienteRest.cs del móvil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d624313899_0_19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56" name="Google Shape;456;g2d624313899_0_19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2d624313899_0_193"/>
          <p:cNvSpPr txBox="1">
            <a:spLocks noGrp="1"/>
          </p:cNvSpPr>
          <p:nvPr>
            <p:ph type="body" idx="1"/>
          </p:nvPr>
        </p:nvSpPr>
        <p:spPr>
          <a:xfrm>
            <a:off x="491075" y="2222500"/>
            <a:ext cx="38886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Vista: PaginaPrincipal.xaml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Solicita Monster / Monster9 antes de habilitar la conversión.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8" name="Google Shape;458;g2d624313899_0_193"/>
          <p:cNvSpPr txBox="1">
            <a:spLocks noGrp="1"/>
          </p:cNvSpPr>
          <p:nvPr>
            <p:ph type="body" idx="1"/>
          </p:nvPr>
        </p:nvSpPr>
        <p:spPr>
          <a:xfrm>
            <a:off x="4698075" y="2222500"/>
            <a:ext cx="38886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 de conversión MAUI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Recoge magnitud, unidades y valor; muestra el resultado o el error.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Vista de conversión MAUI">
            <a:extLst>
              <a:ext uri="{FF2B5EF4-FFF2-40B4-BE49-F238E27FC236}">
                <a16:creationId xmlns:a16="http://schemas.microsoft.com/office/drawing/2014/main" id="{5D2BE896-C9D6-4451-8421-875BD8CFF0FD}"/>
              </a:ext>
            </a:extLst>
          </p:cNvPr>
          <p:cNvSpPr/>
          <p:nvPr/>
        </p:nvSpPr>
        <p:spPr>
          <a:xfrm>
            <a:off x="5096586" y="3395466"/>
            <a:ext cx="3346888" cy="312125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Vista de conversión MAUI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Acceso en PaginaPrincipal.xaml">
            <a:extLst>
              <a:ext uri="{FF2B5EF4-FFF2-40B4-BE49-F238E27FC236}">
                <a16:creationId xmlns:a16="http://schemas.microsoft.com/office/drawing/2014/main" id="{19BF357B-B2D4-4484-A803-3A3A0B58DA81}"/>
              </a:ext>
            </a:extLst>
          </p:cNvPr>
          <p:cNvSpPr/>
          <p:nvPr/>
        </p:nvSpPr>
        <p:spPr>
          <a:xfrm>
            <a:off x="595071" y="3523400"/>
            <a:ext cx="3704493" cy="2290259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Acceso en PaginaPrincipal.xaml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d6d00c5bd2_3_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94" name="Google Shape;494;g2d6d00c5bd2_3_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2d6d00c5bd2_3_16"/>
          <p:cNvSpPr txBox="1">
            <a:spLocks noGrp="1"/>
          </p:cNvSpPr>
          <p:nvPr>
            <p:ph type="body" idx="1"/>
          </p:nvPr>
        </p:nvSpPr>
        <p:spPr>
          <a:xfrm>
            <a:off x="581200" y="1984125"/>
            <a:ext cx="8589300" cy="11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lvl="0" indent="-31798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8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Ejecuta el servidor en el puerto 19082 y después inicia la aplicación Android. Confirma que el emulador o dispositivo pueda alcanzar la dirección configurada.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Ejecución en dispositivo Android">
            <a:extLst>
              <a:ext uri="{FF2B5EF4-FFF2-40B4-BE49-F238E27FC236}">
                <a16:creationId xmlns:a16="http://schemas.microsoft.com/office/drawing/2014/main" id="{F7F24898-5E29-416B-B91C-F98BB55D46E4}"/>
              </a:ext>
            </a:extLst>
          </p:cNvPr>
          <p:cNvSpPr/>
          <p:nvPr/>
        </p:nvSpPr>
        <p:spPr>
          <a:xfrm>
            <a:off x="4375360" y="3132224"/>
            <a:ext cx="1577205" cy="346975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Ejecución en dispositivo Android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Ejecución en emulador Android">
            <a:extLst>
              <a:ext uri="{FF2B5EF4-FFF2-40B4-BE49-F238E27FC236}">
                <a16:creationId xmlns:a16="http://schemas.microsoft.com/office/drawing/2014/main" id="{2D123914-A870-495A-8538-9F7179BF353B}"/>
              </a:ext>
            </a:extLst>
          </p:cNvPr>
          <p:cNvSpPr/>
          <p:nvPr/>
        </p:nvSpPr>
        <p:spPr>
          <a:xfrm>
            <a:off x="2107289" y="3132225"/>
            <a:ext cx="1720640" cy="346975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Ejecución en emulador Android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503" name="Google Shape;503;p41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RESTFUL .NET integra un servidor y cuatro clientes con una lógica de conversión centralizada en IConversor&lt;TUnidad&gt;.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Consola, WPF, Razor MVC y MAUI conservan vistas nativas y separan la comunicación remota. Los datos y las sesiones permanecen en memoria.</a:t>
            </a:r>
            <a:endParaRPr sz="1900" dirty="0"/>
          </a:p>
        </p:txBody>
      </p:sp>
      <p:sp>
        <p:nvSpPr>
          <p:cNvPr id="504" name="Google Shape;504;p4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510" name="Google Shape;510;p42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Mantén el servidor activo y respeta las credenciales, rutas y encabezados del contrato.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Sincroniza catálogos, modelos y mensajes entre clientes. Registra capturas legibles de acceso y conversiones.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Al modificar fórmulas, comprueba valores conocidos y el recorrido de ida y vuelta.</a:t>
            </a:r>
            <a:endParaRPr lang="es-MX" sz="1900" dirty="0"/>
          </a:p>
        </p:txBody>
      </p:sp>
      <p:sp>
        <p:nvSpPr>
          <p:cNvPr id="511" name="Google Shape;511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2087</Words>
  <Application>Microsoft Office PowerPoint</Application>
  <PresentationFormat>Panorámica</PresentationFormat>
  <Paragraphs>490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Gill Sans</vt:lpstr>
      <vt:lpstr>Arial</vt:lpstr>
      <vt:lpstr>Calibri</vt:lpstr>
      <vt:lpstr>Cambria</vt:lpstr>
      <vt:lpstr>Noto Sans Symbols</vt:lpstr>
      <vt:lpstr>Dividendo</vt:lpstr>
      <vt:lpstr>MANUAL TÉCNICO RESTFUL .NET SINBDD GR09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Técnico RESTFUL .NET SINBDD GR09</dc:title>
  <dc:creator>GRUPO 09</dc:creator>
  <cp:lastModifiedBy>GRUPO 09</cp:lastModifiedBy>
  <cp:revision>7</cp:revision>
  <dcterms:created xsi:type="dcterms:W3CDTF">2026-10-28T06:21:53Z</dcterms:created>
  <dcterms:modified xsi:type="dcterms:W3CDTF">2026-10-28T06:21:53Z</dcterms:modified>
</cp:coreProperties>
</file>