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7" r:id="rId9"/>
    <p:sldId id="270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3" r:id="rId18"/>
    <p:sldId id="284" r:id="rId19"/>
    <p:sldId id="288" r:id="rId20"/>
    <p:sldId id="289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301" r:id="rId29"/>
    <p:sldId id="302" r:id="rId30"/>
    <p:sldId id="303" r:id="rId31"/>
  </p:sldIdLst>
  <p:sldSz cx="12192000" cy="6858000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Cambria" panose="02040503050406030204" pitchFamily="18" charset="0"/>
      <p:regular r:id="rId37"/>
      <p:bold r:id="rId38"/>
      <p:italic r:id="rId39"/>
      <p:boldItalic r:id="rId40"/>
    </p:embeddedFont>
    <p:embeddedFont>
      <p:font typeface="Gill Sans" panose="020B0604020202020204" charset="0"/>
      <p:regular r:id="rId41"/>
      <p:bold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hoWsaXMVBtv1HF1G3ccxKxe1iU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d6d00c5b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2d6d00c5b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d62431389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" name="Google Shape;146;g2d62431389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6243138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2" name="Google Shape;162;g2d6243138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d6243138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" name="Google Shape;186;g2d6243138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62431389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2d62431389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6243138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2d6243138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624313899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6" name="Google Shape;246;g2d624313899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d624313899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2d624313899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1974b856c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8" name="Google Shape;298;g31974b856c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1974b856cc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1974b856cc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974b856cc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g31974b856c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d6d00c5bd2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2d6d00c5bd2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0" name="Google Shape;34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9782968e5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g319782968e5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9782968e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19782968e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19782968e5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8" name="Google Shape;398;g319782968e5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19782968e5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8" name="Google Shape;408;g319782968e5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19782968e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6" name="Google Shape;416;g319782968e5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4" name="Google Shape;42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d624313899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g2d624313899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d6243138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3" name="Google Shape;443;g2d6243138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d62431389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3" name="Google Shape;453;g2d62431389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6d00c5bd2_3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91" name="Google Shape;491;g2d6d00c5bd2_3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0" name="Google Shape;50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7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9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5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0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2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5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4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4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4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4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4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pt-BR">
                <a:solidFill>
                  <a:schemeClr val="lt1"/>
                </a:solidFill>
              </a:rPr>
              <a:t>MANUAL TÉCNICO</a:t>
            </a:r>
            <a:br>
              <a:rPr lang="pt-BR">
                <a:solidFill>
                  <a:schemeClr val="lt1"/>
                </a:solidFill>
              </a:rPr>
            </a:br>
            <a:r>
              <a:rPr lang="pt-BR">
                <a:solidFill>
                  <a:schemeClr val="lt1"/>
                </a:solidFill>
              </a:rPr>
              <a:t>SOAP .NET SINBDD GR09</a:t>
            </a: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GRUPO 09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NRC: 36884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98" name="Google Shape;98;p1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7619999" y="5301801"/>
            <a:ext cx="4318000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28/10/2026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ASIGNATURA: ARQUITECTURA DE SOFTWARE</a:t>
            </a:r>
            <a:endParaRPr sz="1600" b="1" i="0" u="none" strike="noStrike" cap="none" dirty="0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SOAP EN .NET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CONSOLA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ESCRITORIO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WEB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MÓVIL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1.1 OBJETIVO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 lang="es-ES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Documentar el conversor SOAP .NET SINBDD: servidor y clientes de consola, WPF, web MVC y Android MAUI.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 solución usa C# y .NET 10. Autentica con Monster / Monster9 antes de convertir longitud, masa o temperatura.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d6d00c5bd2_0_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g2d6d00c5bd2_0_0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 CREACIÓN DEL SERVIDOR SOAP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lang="es-ES" sz="1929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ASP.NET Core 10 con CoreWCF 1.9.1. SOAP 1.1 en 127.0.0.1:19081.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Configura el entorno con ConfigurarEntornoDotNet.ps1.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Inicia 04. SERVIDOR\IniciarServidor.ps1.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g2d6d00c5bd2_0_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Estructura inicial del servidor">
            <a:extLst>
              <a:ext uri="{FF2B5EF4-FFF2-40B4-BE49-F238E27FC236}">
                <a16:creationId xmlns:a16="http://schemas.microsoft.com/office/drawing/2014/main" id="{8F4CF77D-59BB-4DD6-9BE8-8A7DEA0F6D70}"/>
              </a:ext>
            </a:extLst>
          </p:cNvPr>
          <p:cNvSpPr/>
          <p:nvPr/>
        </p:nvSpPr>
        <p:spPr>
          <a:xfrm>
            <a:off x="6096000" y="3709191"/>
            <a:ext cx="3131854" cy="217938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inicial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onfiguración del endpoint y dependencias">
            <a:extLst>
              <a:ext uri="{FF2B5EF4-FFF2-40B4-BE49-F238E27FC236}">
                <a16:creationId xmlns:a16="http://schemas.microsoft.com/office/drawing/2014/main" id="{C2B37573-DD7F-4CE8-A0E8-5D433887D606}"/>
              </a:ext>
            </a:extLst>
          </p:cNvPr>
          <p:cNvSpPr/>
          <p:nvPr/>
        </p:nvSpPr>
        <p:spPr>
          <a:xfrm>
            <a:off x="2953500" y="3716772"/>
            <a:ext cx="3480507" cy="216422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endpoint y dependencias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royecto .NET del servidor y archivo .csproj">
            <a:extLst>
              <a:ext uri="{FF2B5EF4-FFF2-40B4-BE49-F238E27FC236}">
                <a16:creationId xmlns:a16="http://schemas.microsoft.com/office/drawing/2014/main" id="{493BDDFD-617A-44F4-8FC8-D380D1BF3B86}"/>
              </a:ext>
            </a:extLst>
          </p:cNvPr>
          <p:cNvSpPr/>
          <p:nvPr/>
        </p:nvSpPr>
        <p:spPr>
          <a:xfrm>
            <a:off x="234986" y="3724354"/>
            <a:ext cx="3249332" cy="216422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Proyecto .NET del servidor y archivo .csproj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0" name="Google Shape;140;p9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1.2 CONTRATO SOAP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lang="es-ES" sz="1350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CoreWCF expone login, cambiarContrasenia y tres operaciones de conversión.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SOAP 1.1 y WSDL. El encabezado token tiene vigencia de 15 minutos.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l contrato y formato de respuesta">
            <a:extLst>
              <a:ext uri="{FF2B5EF4-FFF2-40B4-BE49-F238E27FC236}">
                <a16:creationId xmlns:a16="http://schemas.microsoft.com/office/drawing/2014/main" id="{D46C417E-63B1-4351-91FB-17167D2A159B}"/>
              </a:ext>
            </a:extLst>
          </p:cNvPr>
          <p:cNvSpPr/>
          <p:nvPr/>
        </p:nvSpPr>
        <p:spPr>
          <a:xfrm>
            <a:off x="3174120" y="3429000"/>
            <a:ext cx="5843760" cy="296484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contrato y formato de respuesta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Dependencias CoreWCF y contrato SOAP">
            <a:extLst>
              <a:ext uri="{FF2B5EF4-FFF2-40B4-BE49-F238E27FC236}">
                <a16:creationId xmlns:a16="http://schemas.microsoft.com/office/drawing/2014/main" id="{08E533D8-CA82-48EB-A318-4D404FD2F869}"/>
              </a:ext>
            </a:extLst>
          </p:cNvPr>
          <p:cNvSpPr/>
          <p:nvPr/>
        </p:nvSpPr>
        <p:spPr>
          <a:xfrm>
            <a:off x="916342" y="3401152"/>
            <a:ext cx="2105025" cy="88582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Dependencias CoreWCF y contrato SOAP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9" name="Google Shape;149;g2d624313899_0_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ARQUITECTURA DEL SERVIDOR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lang="es-ES" sz="1677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Controladores publica operaciones; Servicios valida y coordina. Modelos contiene unidades y tipos de intercambio.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Cada conversor implementa IConversor&lt;TUnidad&gt;. Seguridad administra credenciales y tokens en memoria.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g2d624313899_0_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arpetas Controladores, Servicios, Modelos y Seguridad">
            <a:extLst>
              <a:ext uri="{FF2B5EF4-FFF2-40B4-BE49-F238E27FC236}">
                <a16:creationId xmlns:a16="http://schemas.microsoft.com/office/drawing/2014/main" id="{D5A955C8-73DF-4A43-96ED-5C495A39CF5E}"/>
              </a:ext>
            </a:extLst>
          </p:cNvPr>
          <p:cNvSpPr/>
          <p:nvPr/>
        </p:nvSpPr>
        <p:spPr>
          <a:xfrm>
            <a:off x="5749937" y="2870106"/>
            <a:ext cx="3268557" cy="20335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Carpetas Controladores, Servicios, Modelos y Seguridad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624313899_0_2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5" name="Google Shape;165;g2d624313899_0_26"/>
          <p:cNvSpPr txBox="1">
            <a:spLocks noGrp="1"/>
          </p:cNvSpPr>
          <p:nvPr>
            <p:ph type="body" idx="1"/>
          </p:nvPr>
        </p:nvSpPr>
        <p:spPr>
          <a:xfrm>
            <a:off x="581660" y="2108200"/>
            <a:ext cx="3048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PUBLICACIÓN DEL SERVICIO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Host local: 127.0.0.1:19081.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Aplicacion.cs registra los componentes y configura el contrato.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Consulta ?wsdl en la ruta del servicio. Las operaciones protegidas exigen token SOAP.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6" name="Google Shape;166;g2d624313899_0_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Aplicacion.cs y registro del servidor">
            <a:extLst>
              <a:ext uri="{FF2B5EF4-FFF2-40B4-BE49-F238E27FC236}">
                <a16:creationId xmlns:a16="http://schemas.microsoft.com/office/drawing/2014/main" id="{B7CF14C7-A1FB-46CD-9B06-2501C6854F36}"/>
              </a:ext>
            </a:extLst>
          </p:cNvPr>
          <p:cNvSpPr/>
          <p:nvPr/>
        </p:nvSpPr>
        <p:spPr>
          <a:xfrm>
            <a:off x="3875414" y="2817286"/>
            <a:ext cx="4441055" cy="361543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Aplicacion.cs y registro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d624313899_0_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9" name="Google Shape;189;g2d624313899_0_71"/>
          <p:cNvSpPr txBox="1">
            <a:spLocks noGrp="1"/>
          </p:cNvSpPr>
          <p:nvPr>
            <p:ph type="body" idx="1"/>
          </p:nvPr>
        </p:nvSpPr>
        <p:spPr>
          <a:xfrm>
            <a:off x="684530" y="1921510"/>
            <a:ext cx="60186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0" name="Google Shape;190;g2d624313899_0_7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Respuesta o error del servicio">
            <a:extLst>
              <a:ext uri="{FF2B5EF4-FFF2-40B4-BE49-F238E27FC236}">
                <a16:creationId xmlns:a16="http://schemas.microsoft.com/office/drawing/2014/main" id="{E9114EA8-A636-4E5D-9078-2EE4448E41EF}"/>
              </a:ext>
            </a:extLst>
          </p:cNvPr>
          <p:cNvSpPr/>
          <p:nvPr/>
        </p:nvSpPr>
        <p:spPr>
          <a:xfrm>
            <a:off x="5818100" y="4415104"/>
            <a:ext cx="2808980" cy="207069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Respuesta o error del servicio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onversión de masa">
            <a:extLst>
              <a:ext uri="{FF2B5EF4-FFF2-40B4-BE49-F238E27FC236}">
                <a16:creationId xmlns:a16="http://schemas.microsoft.com/office/drawing/2014/main" id="{DEA656A8-E519-47C1-AE44-5E7BD4AF055A}"/>
              </a:ext>
            </a:extLst>
          </p:cNvPr>
          <p:cNvSpPr/>
          <p:nvPr/>
        </p:nvSpPr>
        <p:spPr>
          <a:xfrm>
            <a:off x="2961150" y="4415104"/>
            <a:ext cx="2761232" cy="21726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Conversión de masa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rueba de inicio de sesión">
            <a:extLst>
              <a:ext uri="{FF2B5EF4-FFF2-40B4-BE49-F238E27FC236}">
                <a16:creationId xmlns:a16="http://schemas.microsoft.com/office/drawing/2014/main" id="{C2E3AF7B-1C5B-485E-8F00-68AB1DFA319F}"/>
              </a:ext>
            </a:extLst>
          </p:cNvPr>
          <p:cNvSpPr/>
          <p:nvPr/>
        </p:nvSpPr>
        <p:spPr>
          <a:xfrm>
            <a:off x="330934" y="4415104"/>
            <a:ext cx="2630216" cy="20089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inicio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Conversión de temperatura">
            <a:extLst>
              <a:ext uri="{FF2B5EF4-FFF2-40B4-BE49-F238E27FC236}">
                <a16:creationId xmlns:a16="http://schemas.microsoft.com/office/drawing/2014/main" id="{C9C3B946-C4DF-42E1-81A6-50079FD40A92}"/>
              </a:ext>
            </a:extLst>
          </p:cNvPr>
          <p:cNvSpPr/>
          <p:nvPr/>
        </p:nvSpPr>
        <p:spPr>
          <a:xfrm>
            <a:off x="4671319" y="1994161"/>
            <a:ext cx="2849245" cy="207581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Conversión de temperatura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6" name="CAPTURA PENDIENTE - Conversión de longitud">
            <a:extLst>
              <a:ext uri="{FF2B5EF4-FFF2-40B4-BE49-F238E27FC236}">
                <a16:creationId xmlns:a16="http://schemas.microsoft.com/office/drawing/2014/main" id="{D9C4CD0A-85E6-4476-8C1E-18E66A405171}"/>
              </a:ext>
            </a:extLst>
          </p:cNvPr>
          <p:cNvSpPr/>
          <p:nvPr/>
        </p:nvSpPr>
        <p:spPr>
          <a:xfrm>
            <a:off x="679863" y="2724790"/>
            <a:ext cx="3776665" cy="134518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Conversión de longitud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g2d624313899_0_51"/>
          <p:cNvSpPr txBox="1">
            <a:spLocks noGrp="1"/>
          </p:cNvSpPr>
          <p:nvPr>
            <p:ph type="body" idx="1"/>
          </p:nvPr>
        </p:nvSpPr>
        <p:spPr>
          <a:xfrm>
            <a:off x="581200" y="2032000"/>
            <a:ext cx="8245500" cy="146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CLIENTE CONSOLA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Cliente net10.0. Aplicacion.cs inicia ControladorConsola; MVC separa la comunicación remota.</a:t>
            </a: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g2d624313899_0_5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 ClienteConsolaGR09">
            <a:extLst>
              <a:ext uri="{FF2B5EF4-FFF2-40B4-BE49-F238E27FC236}">
                <a16:creationId xmlns:a16="http://schemas.microsoft.com/office/drawing/2014/main" id="{3A7959C0-C4A0-43B5-A418-6987B537CAD0}"/>
              </a:ext>
            </a:extLst>
          </p:cNvPr>
          <p:cNvSpPr/>
          <p:nvPr/>
        </p:nvSpPr>
        <p:spPr>
          <a:xfrm>
            <a:off x="4740234" y="3657435"/>
            <a:ext cx="4201160" cy="284543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 ClienteConsolaGR09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Proyecto net10.0 de consola">
            <a:extLst>
              <a:ext uri="{FF2B5EF4-FFF2-40B4-BE49-F238E27FC236}">
                <a16:creationId xmlns:a16="http://schemas.microsoft.com/office/drawing/2014/main" id="{6398EAC1-FA1A-438E-84B6-8806E14BAE12}"/>
              </a:ext>
            </a:extLst>
          </p:cNvPr>
          <p:cNvSpPr/>
          <p:nvPr/>
        </p:nvSpPr>
        <p:spPr>
          <a:xfrm>
            <a:off x="466506" y="3674580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Proyecto net10.0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9" name="Google Shape;239;g2d624313899_0_95"/>
          <p:cNvSpPr txBox="1"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Los tipos de Modelos representan sesión, unidades y resultados.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0" name="Google Shape;240;g2d624313899_0_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g2d624313899_0_95"/>
          <p:cNvSpPr txBox="1">
            <a:spLocks noGrp="1"/>
          </p:cNvSpPr>
          <p:nvPr>
            <p:ph type="body" idx="1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ControladorConsola coordina acceso, conversión y salida mediante el adaptador.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Consola y adaptador">
            <a:extLst>
              <a:ext uri="{FF2B5EF4-FFF2-40B4-BE49-F238E27FC236}">
                <a16:creationId xmlns:a16="http://schemas.microsoft.com/office/drawing/2014/main" id="{7DD048F7-291C-4466-917F-C53A70400149}"/>
              </a:ext>
            </a:extLst>
          </p:cNvPr>
          <p:cNvSpPr/>
          <p:nvPr/>
        </p:nvSpPr>
        <p:spPr>
          <a:xfrm>
            <a:off x="4100618" y="4064763"/>
            <a:ext cx="5172027" cy="177748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ControladorConsola y adaptador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Modelos de sesión y conversión">
            <a:extLst>
              <a:ext uri="{FF2B5EF4-FFF2-40B4-BE49-F238E27FC236}">
                <a16:creationId xmlns:a16="http://schemas.microsoft.com/office/drawing/2014/main" id="{BE1FDCDF-BB08-4024-ACC0-08D4758E0B68}"/>
              </a:ext>
            </a:extLst>
          </p:cNvPr>
          <p:cNvSpPr/>
          <p:nvPr/>
        </p:nvSpPr>
        <p:spPr>
          <a:xfrm>
            <a:off x="811793" y="4064763"/>
            <a:ext cx="2955257" cy="18504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Modelos de sesión y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g2d624313899_0_111"/>
          <p:cNvSpPr txBox="1">
            <a:spLocks noGrp="1"/>
          </p:cNvSpPr>
          <p:nvPr>
            <p:ph type="body" idx="1"/>
          </p:nvPr>
        </p:nvSpPr>
        <p:spPr>
          <a:xfrm>
            <a:off x="581660" y="2921000"/>
            <a:ext cx="3429000" cy="18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VistaConsola solicita acceso, unidades y valor; muestra resultados y errores.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0" name="Google Shape;250;g2d624313899_0_1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VistaConsola.cs y menú">
            <a:extLst>
              <a:ext uri="{FF2B5EF4-FFF2-40B4-BE49-F238E27FC236}">
                <a16:creationId xmlns:a16="http://schemas.microsoft.com/office/drawing/2014/main" id="{86A93331-0F14-4AEA-961B-40B7F4D43301}"/>
              </a:ext>
            </a:extLst>
          </p:cNvPr>
          <p:cNvSpPr/>
          <p:nvPr/>
        </p:nvSpPr>
        <p:spPr>
          <a:xfrm>
            <a:off x="4361215" y="2617179"/>
            <a:ext cx="4878474" cy="260924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VistaConsola.cs y menú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624313899_0_1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7" name="Google Shape;257;g2d624313899_0_138"/>
          <p:cNvSpPr txBox="1">
            <a:spLocks noGrp="1"/>
          </p:cNvSpPr>
          <p:nvPr>
            <p:ph type="body" idx="1"/>
          </p:nvPr>
        </p:nvSpPr>
        <p:spPr>
          <a:xfrm>
            <a:off x="581660" y="1930400"/>
            <a:ext cx="24130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8" name="Google Shape;258;g2d624313899_0_1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Resultado de conversión">
            <a:extLst>
              <a:ext uri="{FF2B5EF4-FFF2-40B4-BE49-F238E27FC236}">
                <a16:creationId xmlns:a16="http://schemas.microsoft.com/office/drawing/2014/main" id="{708B9276-A510-45E6-9B14-51584D3088AA}"/>
              </a:ext>
            </a:extLst>
          </p:cNvPr>
          <p:cNvSpPr/>
          <p:nvPr/>
        </p:nvSpPr>
        <p:spPr>
          <a:xfrm>
            <a:off x="6143877" y="3004463"/>
            <a:ext cx="2928406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Resultado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Selección de magnitud y unidades">
            <a:extLst>
              <a:ext uri="{FF2B5EF4-FFF2-40B4-BE49-F238E27FC236}">
                <a16:creationId xmlns:a16="http://schemas.microsoft.com/office/drawing/2014/main" id="{AD0D4F79-D159-4DE7-A355-9CDF12FB1E7D}"/>
              </a:ext>
            </a:extLst>
          </p:cNvPr>
          <p:cNvSpPr/>
          <p:nvPr/>
        </p:nvSpPr>
        <p:spPr>
          <a:xfrm>
            <a:off x="3227647" y="3004463"/>
            <a:ext cx="2808301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Selección de magnitud y unidades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Inicio de consola">
            <a:extLst>
              <a:ext uri="{FF2B5EF4-FFF2-40B4-BE49-F238E27FC236}">
                <a16:creationId xmlns:a16="http://schemas.microsoft.com/office/drawing/2014/main" id="{7F99F7C5-D9BE-4E6B-AE75-5BFAABFDAA28}"/>
              </a:ext>
            </a:extLst>
          </p:cNvPr>
          <p:cNvSpPr/>
          <p:nvPr/>
        </p:nvSpPr>
        <p:spPr>
          <a:xfrm>
            <a:off x="311657" y="3004463"/>
            <a:ext cx="2808061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Inicio de consola</a:t>
            </a:r>
          </a:p>
        </p:txBody>
      </p:sp>
      <p:sp>
        <p:nvSpPr>
          <p:cNvPr id="5" name="CAPTURA PENDIENTE - Inicio de sesión válido">
            <a:extLst>
              <a:ext uri="{FF2B5EF4-FFF2-40B4-BE49-F238E27FC236}">
                <a16:creationId xmlns:a16="http://schemas.microsoft.com/office/drawing/2014/main" id="{8E2476A0-8191-4A53-A3DE-FADF4D8205EF}"/>
              </a:ext>
            </a:extLst>
          </p:cNvPr>
          <p:cNvSpPr/>
          <p:nvPr/>
        </p:nvSpPr>
        <p:spPr>
          <a:xfrm>
            <a:off x="3227647" y="1933668"/>
            <a:ext cx="2868295" cy="8032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Inicio de sesión válido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8" name="Google Shape;268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1.4 CLIENTE ESCRITORIO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WPF net10.0-windows. VentanaPrincipal.xaml delega operaciones en ControladorConversor.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royecto WPF net10.0-windows">
            <a:extLst>
              <a:ext uri="{FF2B5EF4-FFF2-40B4-BE49-F238E27FC236}">
                <a16:creationId xmlns:a16="http://schemas.microsoft.com/office/drawing/2014/main" id="{D28BE577-97A7-4289-87EA-2CB12471E21C}"/>
              </a:ext>
            </a:extLst>
          </p:cNvPr>
          <p:cNvSpPr/>
          <p:nvPr/>
        </p:nvSpPr>
        <p:spPr>
          <a:xfrm>
            <a:off x="2544819" y="3270983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Proyecto WPF net10.0-windows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1" name="Google Shape;301;g31974b856cc_0_10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31974b856cc_0_109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WPF organiza modelos, vistas XAML, controladores y servicios remotos mediante MVC.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 txBox="1"/>
          <p:nvPr/>
        </p:nvSpPr>
        <p:spPr>
          <a:xfrm>
            <a:off x="762109" y="3269217"/>
            <a:ext cx="1712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Modelo: sesión y conversión.</a:t>
            </a:r>
            <a:endParaRPr lang="es-EC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 txBox="1"/>
          <p:nvPr/>
        </p:nvSpPr>
        <p:spPr>
          <a:xfrm>
            <a:off x="6214191" y="4553152"/>
            <a:ext cx="2633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Controlador: comprueba sesión y llama al adaptador.</a:t>
            </a:r>
            <a:endParaRPr lang="es-EC" dirty="0"/>
          </a:p>
        </p:txBody>
      </p:sp>
      <p:sp>
        <p:nvSpPr>
          <p:cNvPr id="2" name="CAPTURA PENDIENTE - Carpetas MVC del escritorio">
            <a:extLst>
              <a:ext uri="{FF2B5EF4-FFF2-40B4-BE49-F238E27FC236}">
                <a16:creationId xmlns:a16="http://schemas.microsoft.com/office/drawing/2014/main" id="{FC04A46C-F8FC-4B32-89E4-37F1F61238A7}"/>
              </a:ext>
            </a:extLst>
          </p:cNvPr>
          <p:cNvSpPr/>
          <p:nvPr/>
        </p:nvSpPr>
        <p:spPr>
          <a:xfrm>
            <a:off x="2474259" y="4377212"/>
            <a:ext cx="3666875" cy="235536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Carpetas MVC del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Adaptador remoto del escritorio">
            <a:extLst>
              <a:ext uri="{FF2B5EF4-FFF2-40B4-BE49-F238E27FC236}">
                <a16:creationId xmlns:a16="http://schemas.microsoft.com/office/drawing/2014/main" id="{8D27FDBE-3262-425D-901F-736C75C67653}"/>
              </a:ext>
            </a:extLst>
          </p:cNvPr>
          <p:cNvSpPr/>
          <p:nvPr/>
        </p:nvSpPr>
        <p:spPr>
          <a:xfrm>
            <a:off x="5925023" y="3893361"/>
            <a:ext cx="27432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Adaptador remoto del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Modelos del escritorio">
            <a:extLst>
              <a:ext uri="{FF2B5EF4-FFF2-40B4-BE49-F238E27FC236}">
                <a16:creationId xmlns:a16="http://schemas.microsoft.com/office/drawing/2014/main" id="{D9BA546A-1E15-4A80-AA57-994B60F099F9}"/>
              </a:ext>
            </a:extLst>
          </p:cNvPr>
          <p:cNvSpPr/>
          <p:nvPr/>
        </p:nvSpPr>
        <p:spPr>
          <a:xfrm>
            <a:off x="2611811" y="3836431"/>
            <a:ext cx="2476500" cy="342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Modelos del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ControladorConversor.cs">
            <a:extLst>
              <a:ext uri="{FF2B5EF4-FFF2-40B4-BE49-F238E27FC236}">
                <a16:creationId xmlns:a16="http://schemas.microsoft.com/office/drawing/2014/main" id="{B197BBDF-1B0B-4C10-9B0A-1F8D65F9C273}"/>
              </a:ext>
            </a:extLst>
          </p:cNvPr>
          <p:cNvSpPr/>
          <p:nvPr/>
        </p:nvSpPr>
        <p:spPr>
          <a:xfrm>
            <a:off x="5088311" y="2609850"/>
            <a:ext cx="3019425" cy="10287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ControladorConversor.cs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9" name="Google Shape;309;g31974b856cc_0_1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1974b856cc_0_128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VentanaPrincipal.xaml contiene los controles de acceso y conversión. El código asociado gestiona eventos y actualiza la vista con resultados y errores.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VentanaPrincipal.xaml y controles WPF">
            <a:extLst>
              <a:ext uri="{FF2B5EF4-FFF2-40B4-BE49-F238E27FC236}">
                <a16:creationId xmlns:a16="http://schemas.microsoft.com/office/drawing/2014/main" id="{72D8D44A-0A8E-4206-9ECA-659FC89E010E}"/>
              </a:ext>
            </a:extLst>
          </p:cNvPr>
          <p:cNvSpPr/>
          <p:nvPr/>
        </p:nvSpPr>
        <p:spPr>
          <a:xfrm>
            <a:off x="699248" y="2831802"/>
            <a:ext cx="8424537" cy="332404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VentanaPrincipal.xaml y controles WPF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1974b856cc_0_1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7" name="Google Shape;317;g31974b856cc_0_1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g31974b856cc_0_137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Acceso del cliente WPF. Las credenciales iniciales exactas son Monster / Monster9. Una sesión válida habilita las conversiones.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Acceso del cliente WPF">
            <a:extLst>
              <a:ext uri="{FF2B5EF4-FFF2-40B4-BE49-F238E27FC236}">
                <a16:creationId xmlns:a16="http://schemas.microsoft.com/office/drawing/2014/main" id="{DDBE8347-1A58-405A-86AC-1D65FA07AFBF}"/>
              </a:ext>
            </a:extLst>
          </p:cNvPr>
          <p:cNvSpPr/>
          <p:nvPr/>
        </p:nvSpPr>
        <p:spPr>
          <a:xfrm>
            <a:off x="581192" y="2329030"/>
            <a:ext cx="5218973" cy="333666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Acceso del cliente WPF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d6d00c5bd2_2_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g2d6d00c5bd2_2_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g2d6d00c5bd2_2_19"/>
          <p:cNvSpPr txBox="1">
            <a:spLocks noGrp="1"/>
          </p:cNvSpPr>
          <p:nvPr>
            <p:ph type="body" idx="1"/>
          </p:nvPr>
        </p:nvSpPr>
        <p:spPr>
          <a:xfrm>
            <a:off x="5791950" y="2411875"/>
            <a:ext cx="32289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Selecciona magnitud y unidades e ingresa el valor. ControladorConversor solicita la operación al servicio y devuelve el resultado a la ventana.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versión desde WPF">
            <a:extLst>
              <a:ext uri="{FF2B5EF4-FFF2-40B4-BE49-F238E27FC236}">
                <a16:creationId xmlns:a16="http://schemas.microsoft.com/office/drawing/2014/main" id="{E5A38DE0-325D-4447-9F55-51FC2D2555CE}"/>
              </a:ext>
            </a:extLst>
          </p:cNvPr>
          <p:cNvSpPr/>
          <p:nvPr/>
        </p:nvSpPr>
        <p:spPr>
          <a:xfrm>
            <a:off x="1131103" y="2513572"/>
            <a:ext cx="3898097" cy="311626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Conversión desde WPF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43" name="Google Shape;343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2"/>
          <p:cNvSpPr txBox="1"/>
          <p:nvPr/>
        </p:nvSpPr>
        <p:spPr>
          <a:xfrm>
            <a:off x="636600" y="1868348"/>
            <a:ext cx="8576700" cy="18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1.5 CLIENTE WEB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es-ES"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ASP.NET Core MVC utiliza ControladorInicio, modelos, vistas Razor y un adaptador en Servicios.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El perfil de lanzamiento escucha en http://127.0.0.1:5080.</a:t>
            </a:r>
            <a:endParaRPr sz="2000" dirty="0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Aplicacion.cs y configuración de sesión">
            <a:extLst>
              <a:ext uri="{FF2B5EF4-FFF2-40B4-BE49-F238E27FC236}">
                <a16:creationId xmlns:a16="http://schemas.microsoft.com/office/drawing/2014/main" id="{16593287-0CEF-49B8-974F-2F1AE8A0C15E}"/>
              </a:ext>
            </a:extLst>
          </p:cNvPr>
          <p:cNvSpPr/>
          <p:nvPr/>
        </p:nvSpPr>
        <p:spPr>
          <a:xfrm>
            <a:off x="3863999" y="3524211"/>
            <a:ext cx="4959666" cy="303795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Aplicacion.cs y configuración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structura ASP.NET Core MVC">
            <a:extLst>
              <a:ext uri="{FF2B5EF4-FFF2-40B4-BE49-F238E27FC236}">
                <a16:creationId xmlns:a16="http://schemas.microsoft.com/office/drawing/2014/main" id="{9547CBA9-C1D8-4B24-853B-4A2AF89BF58F}"/>
              </a:ext>
            </a:extLst>
          </p:cNvPr>
          <p:cNvSpPr/>
          <p:nvPr/>
        </p:nvSpPr>
        <p:spPr>
          <a:xfrm>
            <a:off x="1211356" y="3839056"/>
            <a:ext cx="2095500" cy="5619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ASP.NET Core MVC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19782968e5_0_8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7" name="Google Shape;377;g319782968e5_0_8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g319782968e5_0_88"/>
          <p:cNvSpPr txBox="1">
            <a:spLocks noGrp="1"/>
          </p:cNvSpPr>
          <p:nvPr>
            <p:ph type="body" idx="1"/>
          </p:nvPr>
        </p:nvSpPr>
        <p:spPr>
          <a:xfrm>
            <a:off x="581200" y="19444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Inicio.cshtml presenta conversión y cambio de contraseña cuando la sesión está activa. ControladorInicio coordina las acciones con ClienteSOAP.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 txBox="1"/>
          <p:nvPr/>
        </p:nvSpPr>
        <p:spPr>
          <a:xfrm>
            <a:off x="719417" y="4185628"/>
            <a:ext cx="262441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sym typeface="Gill Sans"/>
              </a:rPr>
              <a:t>El formulario Razor llama a la acción MVC y muestra el resultado.</a:t>
            </a:r>
            <a:endParaRPr lang="es-EC" dirty="0"/>
          </a:p>
        </p:txBody>
      </p:sp>
      <p:sp>
        <p:nvSpPr>
          <p:cNvPr id="2" name="CAPTURA PENDIENTE - Controlador y respuesta de conversión">
            <a:extLst>
              <a:ext uri="{FF2B5EF4-FFF2-40B4-BE49-F238E27FC236}">
                <a16:creationId xmlns:a16="http://schemas.microsoft.com/office/drawing/2014/main" id="{406C6AF6-33CF-47B3-8FB5-DCC2D1E16140}"/>
              </a:ext>
            </a:extLst>
          </p:cNvPr>
          <p:cNvSpPr/>
          <p:nvPr/>
        </p:nvSpPr>
        <p:spPr>
          <a:xfrm>
            <a:off x="3679277" y="3132944"/>
            <a:ext cx="3959600" cy="354539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y respuesta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Formulario Razor de conversión">
            <a:extLst>
              <a:ext uri="{FF2B5EF4-FFF2-40B4-BE49-F238E27FC236}">
                <a16:creationId xmlns:a16="http://schemas.microsoft.com/office/drawing/2014/main" id="{5F4C8FCF-4366-4C4F-9FAD-C323C0C23A42}"/>
              </a:ext>
            </a:extLst>
          </p:cNvPr>
          <p:cNvSpPr/>
          <p:nvPr/>
        </p:nvSpPr>
        <p:spPr>
          <a:xfrm>
            <a:off x="841168" y="3132944"/>
            <a:ext cx="1448002" cy="90500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Formulario Razor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19782968e5_0_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5" name="Google Shape;385;g319782968e5_0_7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319782968e5_0_73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 sección de acceso de Inicio.cshtml envía credenciales a IniciarSesion. El controlador guarda el token en la sesión HTTP.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Formulario Razor de acceso">
            <a:extLst>
              <a:ext uri="{FF2B5EF4-FFF2-40B4-BE49-F238E27FC236}">
                <a16:creationId xmlns:a16="http://schemas.microsoft.com/office/drawing/2014/main" id="{D3F36737-3CBD-4B2C-B211-D67B93A6A9C6}"/>
              </a:ext>
            </a:extLst>
          </p:cNvPr>
          <p:cNvSpPr/>
          <p:nvPr/>
        </p:nvSpPr>
        <p:spPr>
          <a:xfrm>
            <a:off x="2804070" y="2850777"/>
            <a:ext cx="4143559" cy="370870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Formulario Razor de acceso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19782968e5_0_11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1" name="Google Shape;401;g319782968e5_0_11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g319782968e5_0_112"/>
          <p:cNvSpPr txBox="1">
            <a:spLocks noGrp="1"/>
          </p:cNvSpPr>
          <p:nvPr>
            <p:ph type="body" idx="1"/>
          </p:nvPr>
        </p:nvSpPr>
        <p:spPr>
          <a:xfrm>
            <a:off x="1039100" y="1913200"/>
            <a:ext cx="8038500" cy="18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Inicia primero el servidor y después el cliente web. Abre http://127.0.0.1:5080 y revisa la pantalla de acceso antes de convertir.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liente web ejecutándose">
            <a:extLst>
              <a:ext uri="{FF2B5EF4-FFF2-40B4-BE49-F238E27FC236}">
                <a16:creationId xmlns:a16="http://schemas.microsoft.com/office/drawing/2014/main" id="{20B3726C-F6B4-45C9-AC26-56D387AC5E00}"/>
              </a:ext>
            </a:extLst>
          </p:cNvPr>
          <p:cNvSpPr/>
          <p:nvPr/>
        </p:nvSpPr>
        <p:spPr>
          <a:xfrm>
            <a:off x="3135268" y="3257334"/>
            <a:ext cx="3200847" cy="308653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Cliente web ejecutándose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19782968e5_0_13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1" name="Google Shape;411;g319782968e5_0_1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g319782968e5_0_135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Inicia sesión con Monster / Monster9. Si el token caduca, vuelve a autenticarte antes de solicitar una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Inicio de sesión web">
            <a:extLst>
              <a:ext uri="{FF2B5EF4-FFF2-40B4-BE49-F238E27FC236}">
                <a16:creationId xmlns:a16="http://schemas.microsoft.com/office/drawing/2014/main" id="{EF175D66-5604-41C8-8DB4-58DDF5F7B0ED}"/>
              </a:ext>
            </a:extLst>
          </p:cNvPr>
          <p:cNvSpPr/>
          <p:nvPr/>
        </p:nvSpPr>
        <p:spPr>
          <a:xfrm>
            <a:off x="803359" y="2804085"/>
            <a:ext cx="5399405" cy="2755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Inicio de sesión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19782968e5_0_1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9" name="Google Shape;419;g319782968e5_0_1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g319782968e5_0_123"/>
          <p:cNvSpPr txBox="1">
            <a:spLocks noGrp="1"/>
          </p:cNvSpPr>
          <p:nvPr>
            <p:ph type="body" idx="1"/>
          </p:nvPr>
        </p:nvSpPr>
        <p:spPr>
          <a:xfrm>
            <a:off x="581200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 vista permite seleccionar longitud, masa o temperatura. El catálogo actual contiene siete unidades de longitud, siete de masa y seis de temperatura.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versión desde el navegador">
            <a:extLst>
              <a:ext uri="{FF2B5EF4-FFF2-40B4-BE49-F238E27FC236}">
                <a16:creationId xmlns:a16="http://schemas.microsoft.com/office/drawing/2014/main" id="{CF652FE7-A338-4840-BAF2-EB38435440B1}"/>
              </a:ext>
            </a:extLst>
          </p:cNvPr>
          <p:cNvSpPr/>
          <p:nvPr/>
        </p:nvSpPr>
        <p:spPr>
          <a:xfrm>
            <a:off x="3686896" y="2718547"/>
            <a:ext cx="5399405" cy="281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Conversión desde el navegador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7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aplicación es .NET MAUI con XAML y C#, destino net10.0-android. Usa el SDK Android y JDK configurados por el proyecto.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emulador accede al equipo anfitrión con 10.0.2.2; revisa la URL del adaptador.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royecto .NET MAUI Android">
            <a:extLst>
              <a:ext uri="{FF2B5EF4-FFF2-40B4-BE49-F238E27FC236}">
                <a16:creationId xmlns:a16="http://schemas.microsoft.com/office/drawing/2014/main" id="{7FA02659-968B-436E-8575-1E22FA0ED2B1}"/>
              </a:ext>
            </a:extLst>
          </p:cNvPr>
          <p:cNvSpPr/>
          <p:nvPr/>
        </p:nvSpPr>
        <p:spPr>
          <a:xfrm>
            <a:off x="904275" y="5528800"/>
            <a:ext cx="4335775" cy="5995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Proyecto .NET MAUI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onfiguración Android y net10.0-android">
            <a:extLst>
              <a:ext uri="{FF2B5EF4-FFF2-40B4-BE49-F238E27FC236}">
                <a16:creationId xmlns:a16="http://schemas.microsoft.com/office/drawing/2014/main" id="{41284340-73FC-4346-8B2A-67FE8EF1697E}"/>
              </a:ext>
            </a:extLst>
          </p:cNvPr>
          <p:cNvSpPr/>
          <p:nvPr/>
        </p:nvSpPr>
        <p:spPr>
          <a:xfrm>
            <a:off x="5410937" y="4209124"/>
            <a:ext cx="3622500" cy="1917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Android y net10.0-android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SDK Manager y emulador Android">
            <a:extLst>
              <a:ext uri="{FF2B5EF4-FFF2-40B4-BE49-F238E27FC236}">
                <a16:creationId xmlns:a16="http://schemas.microsoft.com/office/drawing/2014/main" id="{4C801D5B-CB78-4EE0-B2EB-3BF11E28CAE4}"/>
              </a:ext>
            </a:extLst>
          </p:cNvPr>
          <p:cNvSpPr/>
          <p:nvPr/>
        </p:nvSpPr>
        <p:spPr>
          <a:xfrm>
            <a:off x="6418749" y="2402189"/>
            <a:ext cx="1606875" cy="16918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SDK Manager y emulador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8" name="Google Shape;438;g2d624313899_0_1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2d624313899_0_157"/>
          <p:cNvSpPr txBox="1"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Estructura del Proyecto (MVC)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Modelos representa datos y sesión. Vistas contiene PaginaPrincipal.xaml; Controladores coordina el flujo y Servicios contiene el adaptador.</a:t>
            </a:r>
            <a:endParaRPr lang="es-EC" sz="1564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arpetas MVC del móvil">
            <a:extLst>
              <a:ext uri="{FF2B5EF4-FFF2-40B4-BE49-F238E27FC236}">
                <a16:creationId xmlns:a16="http://schemas.microsoft.com/office/drawing/2014/main" id="{36702E61-9B71-4603-BAD8-1C10AD2775F5}"/>
              </a:ext>
            </a:extLst>
          </p:cNvPr>
          <p:cNvSpPr/>
          <p:nvPr/>
        </p:nvSpPr>
        <p:spPr>
          <a:xfrm>
            <a:off x="4741537" y="2559253"/>
            <a:ext cx="3225165" cy="315976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Carpetas MVC del móvil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6" name="Google Shape;446;g2d624313899_0_1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2d624313899_0_172"/>
          <p:cNvSpPr txBox="1">
            <a:spLocks noGrp="1"/>
          </p:cNvSpPr>
          <p:nvPr>
            <p:ph type="body" idx="1"/>
          </p:nvPr>
        </p:nvSpPr>
        <p:spPr>
          <a:xfrm>
            <a:off x="491075" y="2222500"/>
            <a:ext cx="3888600" cy="1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Servicio: ClienteSOAP.cs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HttpClient y System.Xml.Linq envían mensajes SOAP y el encabezado token.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8" name="Google Shape;448;g2d624313899_0_172"/>
          <p:cNvSpPr txBox="1">
            <a:spLocks noGrp="1"/>
          </p:cNvSpPr>
          <p:nvPr>
            <p:ph type="body" idx="1"/>
          </p:nvPr>
        </p:nvSpPr>
        <p:spPr>
          <a:xfrm>
            <a:off x="4698075" y="2222500"/>
            <a:ext cx="3888600" cy="1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Controlador: ControladorConversor.cs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Conserva la sesión y delega las conversiones en el adaptador remoto.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Conversor.cs del móvil">
            <a:extLst>
              <a:ext uri="{FF2B5EF4-FFF2-40B4-BE49-F238E27FC236}">
                <a16:creationId xmlns:a16="http://schemas.microsoft.com/office/drawing/2014/main" id="{760DE4C0-82E6-4314-AB2E-742463D86AE8}"/>
              </a:ext>
            </a:extLst>
          </p:cNvPr>
          <p:cNvSpPr/>
          <p:nvPr/>
        </p:nvSpPr>
        <p:spPr>
          <a:xfrm>
            <a:off x="4980331" y="3710940"/>
            <a:ext cx="3802710" cy="284836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ControladorConversor.cs del móvil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lienteSOAP.cs del móvil">
            <a:extLst>
              <a:ext uri="{FF2B5EF4-FFF2-40B4-BE49-F238E27FC236}">
                <a16:creationId xmlns:a16="http://schemas.microsoft.com/office/drawing/2014/main" id="{BD4B1769-EB83-4114-B094-A3F8F5C58221}"/>
              </a:ext>
            </a:extLst>
          </p:cNvPr>
          <p:cNvSpPr/>
          <p:nvPr/>
        </p:nvSpPr>
        <p:spPr>
          <a:xfrm>
            <a:off x="491075" y="3711388"/>
            <a:ext cx="3478914" cy="225971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ClienteSOAP.cs del móvil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6" name="Google Shape;456;g2d624313899_0_19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2d624313899_0_193"/>
          <p:cNvSpPr txBox="1">
            <a:spLocks noGrp="1"/>
          </p:cNvSpPr>
          <p:nvPr>
            <p:ph type="body" idx="1"/>
          </p:nvPr>
        </p:nvSpPr>
        <p:spPr>
          <a:xfrm>
            <a:off x="491075" y="2222500"/>
            <a:ext cx="3888600" cy="1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PaginaPrincipal.xaml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Solicita Monster / Monster9 antes de habilitar la conversión.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58" name="Google Shape;458;g2d624313899_0_193"/>
          <p:cNvSpPr txBox="1">
            <a:spLocks noGrp="1"/>
          </p:cNvSpPr>
          <p:nvPr>
            <p:ph type="body" idx="1"/>
          </p:nvPr>
        </p:nvSpPr>
        <p:spPr>
          <a:xfrm>
            <a:off x="4698075" y="2222500"/>
            <a:ext cx="3888600" cy="1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 conversión MAUI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Recoge magnitud, unidades y valor; muestra el resultado o el error.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Vista de conversión MAUI">
            <a:extLst>
              <a:ext uri="{FF2B5EF4-FFF2-40B4-BE49-F238E27FC236}">
                <a16:creationId xmlns:a16="http://schemas.microsoft.com/office/drawing/2014/main" id="{285724F7-4293-4679-9704-747298B3B882}"/>
              </a:ext>
            </a:extLst>
          </p:cNvPr>
          <p:cNvSpPr/>
          <p:nvPr/>
        </p:nvSpPr>
        <p:spPr>
          <a:xfrm>
            <a:off x="5096586" y="3395466"/>
            <a:ext cx="3346888" cy="312125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Vista de conversión MAUI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Acceso en PaginaPrincipal.xaml">
            <a:extLst>
              <a:ext uri="{FF2B5EF4-FFF2-40B4-BE49-F238E27FC236}">
                <a16:creationId xmlns:a16="http://schemas.microsoft.com/office/drawing/2014/main" id="{04AF29B5-117D-4812-83CA-A17B8CAD3DD2}"/>
              </a:ext>
            </a:extLst>
          </p:cNvPr>
          <p:cNvSpPr/>
          <p:nvPr/>
        </p:nvSpPr>
        <p:spPr>
          <a:xfrm>
            <a:off x="595071" y="3523400"/>
            <a:ext cx="3704493" cy="229025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Acceso en PaginaPrincipal.xaml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4" name="Google Shape;494;g2d6d00c5bd2_3_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2d6d00c5bd2_3_16"/>
          <p:cNvSpPr txBox="1"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lvl="0" indent="-31798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Ejecuta el servidor en el puerto 19081 y después inicia la aplicación Android. Confirma que el emulador o dispositivo pueda alcanzar la dirección configurada.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Ejecución en dispositivo Android">
            <a:extLst>
              <a:ext uri="{FF2B5EF4-FFF2-40B4-BE49-F238E27FC236}">
                <a16:creationId xmlns:a16="http://schemas.microsoft.com/office/drawing/2014/main" id="{EFF9EA56-8E4A-4C81-B84A-E7CEC6A7482C}"/>
              </a:ext>
            </a:extLst>
          </p:cNvPr>
          <p:cNvSpPr/>
          <p:nvPr/>
        </p:nvSpPr>
        <p:spPr>
          <a:xfrm>
            <a:off x="4375360" y="3132224"/>
            <a:ext cx="1577205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dispositivo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jecución en emulador Android">
            <a:extLst>
              <a:ext uri="{FF2B5EF4-FFF2-40B4-BE49-F238E27FC236}">
                <a16:creationId xmlns:a16="http://schemas.microsoft.com/office/drawing/2014/main" id="{6C8C1FDA-779D-4992-A82B-C2E2CFB93887}"/>
              </a:ext>
            </a:extLst>
          </p:cNvPr>
          <p:cNvSpPr/>
          <p:nvPr/>
        </p:nvSpPr>
        <p:spPr>
          <a:xfrm>
            <a:off x="2107289" y="3132225"/>
            <a:ext cx="1720640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emulador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503" name="Google Shape;503;p41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SOAP .NET integra un servidor y cuatro clientes con una lógica de conversión centralizada en IConversor&lt;TUnidad&gt;.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Consola, WPF, Razor MVC y MAUI conservan vistas nativas y separan la comunicación remota. Los datos y las sesiones permanecen en memoria.</a:t>
            </a:r>
            <a:endParaRPr sz="1900" dirty="0"/>
          </a:p>
        </p:txBody>
      </p:sp>
      <p:sp>
        <p:nvSpPr>
          <p:cNvPr id="504" name="Google Shape;504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510" name="Google Shape;510;p42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Mantén el servidor activo y respeta las credenciales, rutas y encabezados del contrato.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Sincroniza catálogos, modelos y mensajes entre clientes. Registra capturas legibles de acceso y conversiones.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Al modificar fórmulas, comprueba valores conocidos y el recorrido de ida y vuelta.</a:t>
            </a:r>
            <a:endParaRPr lang="es-MX" sz="1900" dirty="0"/>
          </a:p>
        </p:txBody>
      </p:sp>
      <p:sp>
        <p:nvSpPr>
          <p:cNvPr id="511" name="Google Shape;511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2072</Words>
  <Application>Microsoft Office PowerPoint</Application>
  <PresentationFormat>Panorámica</PresentationFormat>
  <Paragraphs>490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Gill Sans</vt:lpstr>
      <vt:lpstr>Arial</vt:lpstr>
      <vt:lpstr>Calibri</vt:lpstr>
      <vt:lpstr>Cambria</vt:lpstr>
      <vt:lpstr>Noto Sans Symbols</vt:lpstr>
      <vt:lpstr>Dividendo</vt:lpstr>
      <vt:lpstr>MANUAL TÉCNICO SOAP .NET SINBDD GR09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Técnico SOAP .NET SINBDD GR09</dc:title>
  <dc:creator>GRUPO 09</dc:creator>
  <cp:lastModifiedBy>GRUPO 09</cp:lastModifiedBy>
  <cp:revision>6</cp:revision>
  <dcterms:created xsi:type="dcterms:W3CDTF">2026-10-28T06:21:53Z</dcterms:created>
  <dcterms:modified xsi:type="dcterms:W3CDTF">2026-10-28T06:21:53Z</dcterms:modified>
</cp:coreProperties>
</file>