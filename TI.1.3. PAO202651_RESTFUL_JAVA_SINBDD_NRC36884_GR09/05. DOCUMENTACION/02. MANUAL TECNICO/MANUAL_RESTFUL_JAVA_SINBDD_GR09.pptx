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1" r:id="rId6"/>
    <p:sldId id="262" r:id="rId7"/>
    <p:sldId id="264" r:id="rId8"/>
    <p:sldId id="267" r:id="rId9"/>
    <p:sldId id="270" r:id="rId10"/>
    <p:sldId id="272" r:id="rId11"/>
    <p:sldId id="273" r:id="rId12"/>
    <p:sldId id="274" r:id="rId13"/>
    <p:sldId id="275" r:id="rId14"/>
    <p:sldId id="279" r:id="rId15"/>
    <p:sldId id="280" r:id="rId16"/>
    <p:sldId id="281" r:id="rId17"/>
    <p:sldId id="283" r:id="rId18"/>
    <p:sldId id="284" r:id="rId19"/>
    <p:sldId id="288" r:id="rId20"/>
    <p:sldId id="289" r:id="rId21"/>
    <p:sldId id="291" r:id="rId22"/>
    <p:sldId id="292" r:id="rId23"/>
    <p:sldId id="293" r:id="rId24"/>
    <p:sldId id="294" r:id="rId25"/>
    <p:sldId id="295" r:id="rId26"/>
    <p:sldId id="296" r:id="rId27"/>
    <p:sldId id="297" r:id="rId28"/>
    <p:sldId id="301" r:id="rId29"/>
    <p:sldId id="302" r:id="rId30"/>
    <p:sldId id="303" r:id="rId31"/>
  </p:sldIdLst>
  <p:sldSz cx="12192000" cy="6858000"/>
  <p:notesSz cx="6858000" cy="9144000"/>
  <p:embeddedFontLst>
    <p:embeddedFont>
      <p:font typeface="Calibri" panose="020F0502020204030204" pitchFamily="34" charset="0"/>
      <p:regular r:id="rId33"/>
      <p:bold r:id="rId34"/>
      <p:italic r:id="rId35"/>
      <p:boldItalic r:id="rId36"/>
    </p:embeddedFont>
    <p:embeddedFont>
      <p:font typeface="Cambria" panose="02040503050406030204" pitchFamily="18" charset="0"/>
      <p:regular r:id="rId37"/>
      <p:bold r:id="rId38"/>
      <p:italic r:id="rId39"/>
      <p:boldItalic r:id="rId40"/>
    </p:embeddedFont>
    <p:embeddedFont>
      <p:font typeface="Gill Sans" panose="020B0604020202020204" charset="0"/>
      <p:regular r:id="rId41"/>
      <p:bold r:id="rId4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55" roundtripDataSignature="AMtx7mhoWsaXMVBtv1HF1G3ccxKxe1iUl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7.fntdata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font" Target="fonts/font10.fntdata"/><Relationship Id="rId55" Type="http://customschemas.google.com/relationships/presentationmetadata" Target="meta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4" name="Google Shape;9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3" name="Google Shape;10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2d6d00c5bd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9" name="Google Shape;119;g2d6d00c5bd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7" name="Google Shape;13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2d624313899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6" name="Google Shape;146;g2d624313899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2d624313899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2" name="Google Shape;162;g2d624313899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2d624313899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86" name="Google Shape;186;g2d624313899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2d62431389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18" name="Google Shape;218;g2d62431389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2d624313899_0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36" name="Google Shape;236;g2d624313899_0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d624313899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46" name="Google Shape;246;g2d624313899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2d624313899_0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54" name="Google Shape;254;g2d624313899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65" name="Google Shape;265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1974b856cc_0_1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98" name="Google Shape;298;g31974b856cc_0_1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1974b856cc_0_1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06" name="Google Shape;306;g31974b856cc_0_1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1974b856cc_0_1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14" name="Google Shape;314;g31974b856cc_0_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2d6d00c5bd2_2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32" name="Google Shape;332;g2d6d00c5bd2_2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40" name="Google Shape;340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19782968e5_0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74" name="Google Shape;374;g319782968e5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319782968e5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82" name="Google Shape;382;g319782968e5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19782968e5_0_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98" name="Google Shape;398;g319782968e5_0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319782968e5_0_1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08" name="Google Shape;408;g319782968e5_0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g319782968e5_0_1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16" name="Google Shape;416;g319782968e5_0_1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24" name="Google Shape;424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g2d624313899_0_1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35" name="Google Shape;435;g2d624313899_0_1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2d624313899_0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43" name="Google Shape;443;g2d624313899_0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2d624313899_0_1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53" name="Google Shape;453;g2d624313899_0_1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g2d6d00c5bd2_3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91" name="Google Shape;491;g2d6d00c5bd2_3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00" name="Google Shape;500;p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07" name="Google Shape;507;p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5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lvl="1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4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5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164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6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46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25" name="Google Shape;25;p46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6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6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0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7"/>
          <p:cNvSpPr/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7"/>
          <p:cNvSpPr txBox="1"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7"/>
          <p:cNvSpPr txBox="1"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47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7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7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8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48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8"/>
          <p:cNvSpPr txBox="1">
            <a:spLocks noGrp="1"/>
          </p:cNvSpPr>
          <p:nvPr>
            <p:ph type="body" idx="1"/>
          </p:nvPr>
        </p:nvSpPr>
        <p:spPr>
          <a:xfrm>
            <a:off x="581193" y="2228003"/>
            <a:ext cx="5422390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39" name="Google Shape;39;p48"/>
          <p:cNvSpPr txBox="1">
            <a:spLocks noGrp="1"/>
          </p:cNvSpPr>
          <p:nvPr>
            <p:ph type="body" idx="2"/>
          </p:nvPr>
        </p:nvSpPr>
        <p:spPr>
          <a:xfrm>
            <a:off x="6188417" y="2228003"/>
            <a:ext cx="5422392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0" name="Google Shape;40;p48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48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48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49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49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49"/>
          <p:cNvSpPr txBox="1"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49"/>
          <p:cNvSpPr txBox="1">
            <a:spLocks noGrp="1"/>
          </p:cNvSpPr>
          <p:nvPr>
            <p:ph type="body" idx="2"/>
          </p:nvPr>
        </p:nvSpPr>
        <p:spPr>
          <a:xfrm>
            <a:off x="581194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8" name="Google Shape;48;p49"/>
          <p:cNvSpPr txBox="1">
            <a:spLocks noGrp="1"/>
          </p:cNvSpPr>
          <p:nvPr>
            <p:ph type="body" idx="3"/>
          </p:nvPr>
        </p:nvSpPr>
        <p:spPr>
          <a:xfrm>
            <a:off x="6523735" y="2250892"/>
            <a:ext cx="5087073" cy="553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49"/>
          <p:cNvSpPr txBox="1">
            <a:spLocks noGrp="1"/>
          </p:cNvSpPr>
          <p:nvPr>
            <p:ph type="body" idx="4"/>
          </p:nvPr>
        </p:nvSpPr>
        <p:spPr>
          <a:xfrm>
            <a:off x="6217709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50" name="Google Shape;50;p49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49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9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50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50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50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57" name="Google Shape;57;p50"/>
          <p:cNvSpPr/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50"/>
          <p:cNvSpPr txBox="1"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5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5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5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52"/>
          <p:cNvSpPr/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52"/>
          <p:cNvSpPr txBox="1"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/>
              <a:buNone/>
              <a:defRPr sz="2000" b="0"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52"/>
          <p:cNvSpPr txBox="1">
            <a:spLocks noGrp="1"/>
          </p:cNvSpPr>
          <p:nvPr>
            <p:ph type="body" idx="1"/>
          </p:nvPr>
        </p:nvSpPr>
        <p:spPr>
          <a:xfrm>
            <a:off x="447816" y="601200"/>
            <a:ext cx="11292840" cy="42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lvl="2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lvl="3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lvl="4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lvl="5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lvl="6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lvl="7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lvl="8" indent="-31038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52"/>
          <p:cNvSpPr txBox="1">
            <a:spLocks noGrp="1"/>
          </p:cNvSpPr>
          <p:nvPr>
            <p:ph type="body" idx="2"/>
          </p:nvPr>
        </p:nvSpPr>
        <p:spPr>
          <a:xfrm>
            <a:off x="5740823" y="5262296"/>
            <a:ext cx="5869987" cy="68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52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52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52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53"/>
          <p:cNvSpPr txBox="1"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/>
              <a:buNone/>
              <a:defRPr sz="2400" b="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53"/>
          <p:cNvSpPr>
            <a:spLocks noGrp="1"/>
          </p:cNvSpPr>
          <p:nvPr>
            <p:ph type="pic" idx="2"/>
          </p:nvPr>
        </p:nvSpPr>
        <p:spPr>
          <a:xfrm>
            <a:off x="447817" y="599725"/>
            <a:ext cx="11290859" cy="3557252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53"/>
          <p:cNvSpPr txBox="1">
            <a:spLocks noGrp="1"/>
          </p:cNvSpPr>
          <p:nvPr>
            <p:ph type="body" idx="1"/>
          </p:nvPr>
        </p:nvSpPr>
        <p:spPr>
          <a:xfrm>
            <a:off x="581192" y="5260127"/>
            <a:ext cx="11029617" cy="59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75" name="Google Shape;75;p53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53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5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54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54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54"/>
          <p:cNvSpPr txBox="1">
            <a:spLocks noGrp="1"/>
          </p:cNvSpPr>
          <p:nvPr>
            <p:ph type="body" idx="1"/>
          </p:nvPr>
        </p:nvSpPr>
        <p:spPr>
          <a:xfrm rot="5400000">
            <a:off x="4334603" y="-1417408"/>
            <a:ext cx="3522794" cy="1102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lvl="2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lvl="3" indent="-29870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lvl="4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2" name="Google Shape;82;p5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5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55"/>
          <p:cNvSpPr/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55"/>
          <p:cNvSpPr txBox="1">
            <a:spLocks noGrp="1"/>
          </p:cNvSpPr>
          <p:nvPr>
            <p:ph type="title"/>
          </p:nvPr>
        </p:nvSpPr>
        <p:spPr>
          <a:xfrm rot="5400000">
            <a:off x="7249746" y="2265181"/>
            <a:ext cx="5183073" cy="2004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55"/>
          <p:cNvSpPr txBox="1">
            <a:spLocks noGrp="1"/>
          </p:cNvSpPr>
          <p:nvPr>
            <p:ph type="body" idx="1"/>
          </p:nvPr>
        </p:nvSpPr>
        <p:spPr>
          <a:xfrm rot="5400000">
            <a:off x="2131526" y="-680877"/>
            <a:ext cx="5183073" cy="7896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9" name="Google Shape;89;p55"/>
          <p:cNvSpPr txBox="1">
            <a:spLocks noGrp="1"/>
          </p:cNvSpPr>
          <p:nvPr>
            <p:ph type="dt" idx="10"/>
          </p:nvPr>
        </p:nvSpPr>
        <p:spPr>
          <a:xfrm>
            <a:off x="8993673" y="5956137"/>
            <a:ext cx="13281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55"/>
          <p:cNvSpPr txBox="1">
            <a:spLocks noGrp="1"/>
          </p:cNvSpPr>
          <p:nvPr>
            <p:ph type="ftr" idx="11"/>
          </p:nvPr>
        </p:nvSpPr>
        <p:spPr>
          <a:xfrm>
            <a:off x="774923" y="5951811"/>
            <a:ext cx="789627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55"/>
          <p:cNvSpPr txBox="1">
            <a:spLocks noGrp="1"/>
          </p:cNvSpPr>
          <p:nvPr>
            <p:ph type="sldNum" idx="12"/>
          </p:nvPr>
        </p:nvSpPr>
        <p:spPr>
          <a:xfrm>
            <a:off x="10446615" y="5956137"/>
            <a:ext cx="11641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4"/>
          <p:cNvSpPr txBox="1"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  <a:defRPr sz="2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44"/>
          <p:cNvSpPr txBox="1"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333756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sz="18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22072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10388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29870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29870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298703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8" name="Google Shape;8;p4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9" name="Google Shape;9;p4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0" name="Google Shape;10;p4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11" name="Google Shape;11;p44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44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44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"/>
          <p:cNvSpPr txBox="1">
            <a:spLocks noGrp="1"/>
          </p:cNvSpPr>
          <p:nvPr>
            <p:ph type="ctrTitle"/>
          </p:nvPr>
        </p:nvSpPr>
        <p:spPr>
          <a:xfrm>
            <a:off x="599226" y="3158569"/>
            <a:ext cx="10993549" cy="1578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pt-BR">
                <a:solidFill>
                  <a:schemeClr val="lt1"/>
                </a:solidFill>
              </a:rPr>
              <a:t>MANUAL TÉCNICO</a:t>
            </a:r>
            <a:br>
              <a:rPr lang="pt-BR">
                <a:solidFill>
                  <a:schemeClr val="lt1"/>
                </a:solidFill>
              </a:rPr>
            </a:br>
            <a:r>
              <a:rPr lang="pt-BR">
                <a:solidFill>
                  <a:schemeClr val="lt1"/>
                </a:solidFill>
              </a:rPr>
              <a:t>RESTFUL JAVA SINBDD GR09</a:t>
            </a:r>
            <a:endParaRPr dirty="0"/>
          </a:p>
        </p:txBody>
      </p:sp>
      <p:sp>
        <p:nvSpPr>
          <p:cNvPr id="97" name="Google Shape;97;p1"/>
          <p:cNvSpPr txBox="1">
            <a:spLocks noGrp="1"/>
          </p:cNvSpPr>
          <p:nvPr>
            <p:ph type="subTitle" idx="1"/>
          </p:nvPr>
        </p:nvSpPr>
        <p:spPr>
          <a:xfrm>
            <a:off x="599226" y="4572000"/>
            <a:ext cx="4261531" cy="1812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INTEGRANTE: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JULIO ENRIQUE VICHE CASTILLO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GRUPO: GR09</a:t>
            </a:r>
            <a:endParaRPr dirty="0">
              <a:solidFill>
                <a:schemeClr val="lt1"/>
              </a:solidFill>
            </a:endParaRPr>
          </a:p>
        </p:txBody>
      </p:sp>
      <p:pic>
        <p:nvPicPr>
          <p:cNvPr id="98" name="Google Shape;98;p1" descr="Resultado de imagen para es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9597" y="716302"/>
            <a:ext cx="11647502" cy="219392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"/>
          <p:cNvSpPr txBox="1"/>
          <p:nvPr/>
        </p:nvSpPr>
        <p:spPr>
          <a:xfrm>
            <a:off x="7619999" y="5301801"/>
            <a:ext cx="4318000" cy="1235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FECHA: 27/10/2026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ASIGNATURA: ARQUITECTURA DE SOFTWARE</a:t>
            </a:r>
            <a:endParaRPr sz="1600" b="1" i="0" u="none" strike="noStrike" cap="none" dirty="0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0" name="Google Shape;100;p1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"/>
          <p:cNvSpPr/>
          <p:nvPr/>
        </p:nvSpPr>
        <p:spPr>
          <a:xfrm>
            <a:off x="0" y="614406"/>
            <a:ext cx="12192000" cy="624359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None/>
            </a:pPr>
            <a:endParaRPr sz="18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7" name="Google Shape;107;p2"/>
          <p:cNvSpPr txBox="1">
            <a:spLocks noGrp="1"/>
          </p:cNvSpPr>
          <p:nvPr>
            <p:ph type="body" idx="1"/>
          </p:nvPr>
        </p:nvSpPr>
        <p:spPr>
          <a:xfrm>
            <a:off x="596348" y="701336"/>
            <a:ext cx="3389726" cy="542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DESARROLLO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OBJETIVO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SERVIDOR RESTFUL EN JAVA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CONSOLA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ESCRITORIO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WEB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MÓVIL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CONCLUSIONES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RECOMENDACIONES</a:t>
            </a:r>
            <a:endParaRPr/>
          </a:p>
        </p:txBody>
      </p:sp>
      <p:pic>
        <p:nvPicPr>
          <p:cNvPr id="108" name="Google Shape;108;p2" descr="Resultado de imagen para AGENDA 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91522" y="1935576"/>
            <a:ext cx="6489819" cy="3007477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3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8589441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1.1 OBJETIVO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endParaRPr lang="es-ES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Documentar la configuración, arquitectura, ejecución y validación del conversor de unidades. El sistema ofrece clientes de consola, escritorio, web y móvil conectados a un servicio Java de tipo 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RESTful.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Las conversiones se organizan en longitud, masa y temperatura. Cada cliente inicia con autenticación usando MONSTER / MONSTER9. Los datos se mantienen en memoria; no se utiliza base de datos.</a:t>
            </a:r>
            <a:endParaRPr lang="es-MX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3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2d6d00c5bd2_0_0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g2d6d00c5bd2_0_0"/>
          <p:cNvSpPr txBox="1">
            <a:spLocks noGrp="1"/>
          </p:cNvSpPr>
          <p:nvPr>
            <p:ph type="body" idx="1"/>
          </p:nvPr>
        </p:nvSpPr>
        <p:spPr>
          <a:xfrm>
            <a:off x="581200" y="2032000"/>
            <a:ext cx="8589300" cy="16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2500"/>
          </a:bodyPr>
          <a:lstStyle/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1.2 CREACIÓN DEL SERVIDOR RESTFUL</a:t>
            </a: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endParaRPr lang="es-ES" sz="1929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Java 17 con Jersey, Grizzly y Jackson. Puerto 8080 (alterno 8085).</a:t>
            </a: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Contexto: /WS_CONV_UNI_RESTFULL_JAVA-1.0-SNAPSHOT/</a:t>
            </a: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Rutas: health, auth/login y conversor/{longitud,masa,temperatura}.</a:t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g2d6d00c5bd2_0_0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Estructura inicial del servidor">
            <a:extLst>
              <a:ext uri="{FF2B5EF4-FFF2-40B4-BE49-F238E27FC236}">
                <a16:creationId xmlns:a16="http://schemas.microsoft.com/office/drawing/2014/main" id="{17E77EA3-1BEA-4179-BF94-998624423603}"/>
              </a:ext>
            </a:extLst>
          </p:cNvPr>
          <p:cNvSpPr/>
          <p:nvPr/>
        </p:nvSpPr>
        <p:spPr>
          <a:xfrm>
            <a:off x="6096000" y="3709191"/>
            <a:ext cx="3131854" cy="2179386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Estructura inicial del servidor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Ajustes del endpoint y dependencias">
            <a:extLst>
              <a:ext uri="{FF2B5EF4-FFF2-40B4-BE49-F238E27FC236}">
                <a16:creationId xmlns:a16="http://schemas.microsoft.com/office/drawing/2014/main" id="{50ACFE48-E015-4B57-A8E4-FBBB537BEA49}"/>
              </a:ext>
            </a:extLst>
          </p:cNvPr>
          <p:cNvSpPr/>
          <p:nvPr/>
        </p:nvSpPr>
        <p:spPr>
          <a:xfrm>
            <a:off x="2953500" y="3716772"/>
            <a:ext cx="3480507" cy="2164222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Ajustes del endpoint y dependencias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Proyecto Maven y configuración del servidor">
            <a:extLst>
              <a:ext uri="{FF2B5EF4-FFF2-40B4-BE49-F238E27FC236}">
                <a16:creationId xmlns:a16="http://schemas.microsoft.com/office/drawing/2014/main" id="{BF619C64-20BD-4F4D-BA92-6F9DFDBD2226}"/>
              </a:ext>
            </a:extLst>
          </p:cNvPr>
          <p:cNvSpPr/>
          <p:nvPr/>
        </p:nvSpPr>
        <p:spPr>
          <a:xfrm>
            <a:off x="234986" y="3724354"/>
            <a:ext cx="3249332" cy="2164222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Proyecto Maven y configuración del servidor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40" name="Google Shape;140;p9"/>
          <p:cNvSpPr txBox="1">
            <a:spLocks noGrp="1"/>
          </p:cNvSpPr>
          <p:nvPr>
            <p:ph type="body" idx="1"/>
          </p:nvPr>
        </p:nvSpPr>
        <p:spPr>
          <a:xfrm>
            <a:off x="581192" y="2180497"/>
            <a:ext cx="8589441" cy="1248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1.2 CONTRATO RESTFUL</a:t>
            </a: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endParaRPr lang="es-ES" sz="1350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La API recibe solicitudes HTTP/JSON en el contexto configurado por ServidorRestMain.</a:t>
            </a: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Rutas: health, auth/login y conversor/longitud, conversor/masa, conversor/temperatura.</a:t>
            </a: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Responde con JSON; autentica al usuario antes de convertir.</a:t>
            </a:r>
            <a:endParaRPr lang="es-MX"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41" name="Google Shape;141;p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Configuración de recursos y formato de respuesta">
            <a:extLst>
              <a:ext uri="{FF2B5EF4-FFF2-40B4-BE49-F238E27FC236}">
                <a16:creationId xmlns:a16="http://schemas.microsoft.com/office/drawing/2014/main" id="{C7E1E34B-54B3-4282-9A1E-9BDE3F598B2F}"/>
              </a:ext>
            </a:extLst>
          </p:cNvPr>
          <p:cNvSpPr/>
          <p:nvPr/>
        </p:nvSpPr>
        <p:spPr>
          <a:xfrm>
            <a:off x="3174120" y="3429000"/>
            <a:ext cx="5843760" cy="2964849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Configuración de recursos y formato de respuesta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Dependencias de servicios SOAP/REST">
            <a:extLst>
              <a:ext uri="{FF2B5EF4-FFF2-40B4-BE49-F238E27FC236}">
                <a16:creationId xmlns:a16="http://schemas.microsoft.com/office/drawing/2014/main" id="{6227344A-0244-4E95-94DB-D55E648FE2B9}"/>
              </a:ext>
            </a:extLst>
          </p:cNvPr>
          <p:cNvSpPr/>
          <p:nvPr/>
        </p:nvSpPr>
        <p:spPr>
          <a:xfrm>
            <a:off x="916342" y="3401152"/>
            <a:ext cx="2105025" cy="88582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Dependencias de servicios SOAP/REST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2d624313899_0_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49" name="Google Shape;149;g2d624313899_0_5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4557900" cy="38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ARQUITECTURA DEL SERVIDOR</a:t>
            </a: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endParaRPr lang="es-ES" sz="1677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Jersey registra los recursos REST; Grizzly ofrece el servidor HTTP embebido y Jackson procesa JSON. Las clases de servicio centralizan la autenticación y las fórmulas de conversión.</a:t>
            </a: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Los catálogos se mantienen en memoria, sin acceso a base de datos.</a:t>
            </a: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50" name="Google Shape;150;g2d624313899_0_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Paquetes y componentes del servidor">
            <a:extLst>
              <a:ext uri="{FF2B5EF4-FFF2-40B4-BE49-F238E27FC236}">
                <a16:creationId xmlns:a16="http://schemas.microsoft.com/office/drawing/2014/main" id="{454DCE1A-E548-4B0A-A877-3DAA336DC380}"/>
              </a:ext>
            </a:extLst>
          </p:cNvPr>
          <p:cNvSpPr/>
          <p:nvPr/>
        </p:nvSpPr>
        <p:spPr>
          <a:xfrm>
            <a:off x="5749937" y="2870106"/>
            <a:ext cx="3268557" cy="203358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Paquetes y componentes del servidor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d624313899_0_2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65" name="Google Shape;165;g2d624313899_0_26"/>
          <p:cNvSpPr txBox="1">
            <a:spLocks noGrp="1"/>
          </p:cNvSpPr>
          <p:nvPr>
            <p:ph type="body" idx="1"/>
          </p:nvPr>
        </p:nvSpPr>
        <p:spPr>
          <a:xfrm>
            <a:off x="581660" y="2108200"/>
            <a:ext cx="3048000" cy="38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VERIFICACIÓN DE LA API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Base: /WS_CONV_UNI_RESTFULL_JAVA-1.0-SNAPSHOT/. Valida health y auth/login; prueba conversor/longitud, /masa y /temperatura.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Puertos: 8080 y 8085.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66" name="Google Shape;166;g2d624313899_0_2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Código de publicación o registro de recursos">
            <a:extLst>
              <a:ext uri="{FF2B5EF4-FFF2-40B4-BE49-F238E27FC236}">
                <a16:creationId xmlns:a16="http://schemas.microsoft.com/office/drawing/2014/main" id="{AEDAC15D-A3D3-404F-9C5F-945CC788CB4C}"/>
              </a:ext>
            </a:extLst>
          </p:cNvPr>
          <p:cNvSpPr/>
          <p:nvPr/>
        </p:nvSpPr>
        <p:spPr>
          <a:xfrm>
            <a:off x="3875414" y="2817286"/>
            <a:ext cx="4441055" cy="3615432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Código de publicación o registro de recursos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2d624313899_0_7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89" name="Google Shape;189;g2d624313899_0_71"/>
          <p:cNvSpPr txBox="1">
            <a:spLocks noGrp="1"/>
          </p:cNvSpPr>
          <p:nvPr>
            <p:ph type="body" idx="1"/>
          </p:nvPr>
        </p:nvSpPr>
        <p:spPr>
          <a:xfrm>
            <a:off x="684530" y="1921510"/>
            <a:ext cx="6018600" cy="6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4140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PRUEBAS DEL SERVICIO</a:t>
            </a:r>
            <a:endParaRPr sz="167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90" name="Google Shape;190;g2d624313899_0_7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Respuesta del servicio">
            <a:extLst>
              <a:ext uri="{FF2B5EF4-FFF2-40B4-BE49-F238E27FC236}">
                <a16:creationId xmlns:a16="http://schemas.microsoft.com/office/drawing/2014/main" id="{B2C4A3B8-9E3D-4E18-9BFA-696E1A7A9839}"/>
              </a:ext>
            </a:extLst>
          </p:cNvPr>
          <p:cNvSpPr/>
          <p:nvPr/>
        </p:nvSpPr>
        <p:spPr>
          <a:xfrm>
            <a:off x="5818100" y="4415104"/>
            <a:ext cx="2808980" cy="207069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Respuesta del servicio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Prueba de conversión de temperatura">
            <a:extLst>
              <a:ext uri="{FF2B5EF4-FFF2-40B4-BE49-F238E27FC236}">
                <a16:creationId xmlns:a16="http://schemas.microsoft.com/office/drawing/2014/main" id="{465518C2-7DAD-4640-87B0-13850D7F0BF1}"/>
              </a:ext>
            </a:extLst>
          </p:cNvPr>
          <p:cNvSpPr/>
          <p:nvPr/>
        </p:nvSpPr>
        <p:spPr>
          <a:xfrm>
            <a:off x="2961150" y="4415104"/>
            <a:ext cx="2761232" cy="21726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Prueba de conversión de temperatura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Prueba de conversión de masa">
            <a:extLst>
              <a:ext uri="{FF2B5EF4-FFF2-40B4-BE49-F238E27FC236}">
                <a16:creationId xmlns:a16="http://schemas.microsoft.com/office/drawing/2014/main" id="{C0532E73-4590-4CA0-9537-FB9AAEE1A6CE}"/>
              </a:ext>
            </a:extLst>
          </p:cNvPr>
          <p:cNvSpPr/>
          <p:nvPr/>
        </p:nvSpPr>
        <p:spPr>
          <a:xfrm>
            <a:off x="330934" y="4415104"/>
            <a:ext cx="2630216" cy="200899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Prueba de conversión de masa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5" name="CAPTURA PENDIENTE - Prueba de conversión de longitud">
            <a:extLst>
              <a:ext uri="{FF2B5EF4-FFF2-40B4-BE49-F238E27FC236}">
                <a16:creationId xmlns:a16="http://schemas.microsoft.com/office/drawing/2014/main" id="{2D1CD486-4A7B-4EB5-9791-8DAA5B3291E4}"/>
              </a:ext>
            </a:extLst>
          </p:cNvPr>
          <p:cNvSpPr/>
          <p:nvPr/>
        </p:nvSpPr>
        <p:spPr>
          <a:xfrm>
            <a:off x="4671319" y="1994161"/>
            <a:ext cx="2849245" cy="207581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Prueba de conversión de longitud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6" name="CAPTURA PENDIENTE - Prueba de autenticación">
            <a:extLst>
              <a:ext uri="{FF2B5EF4-FFF2-40B4-BE49-F238E27FC236}">
                <a16:creationId xmlns:a16="http://schemas.microsoft.com/office/drawing/2014/main" id="{CEB29770-1EED-4DD7-8C23-D733A4854BCB}"/>
              </a:ext>
            </a:extLst>
          </p:cNvPr>
          <p:cNvSpPr/>
          <p:nvPr/>
        </p:nvSpPr>
        <p:spPr>
          <a:xfrm>
            <a:off x="679863" y="2724790"/>
            <a:ext cx="3776665" cy="1345186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Prueba de autenticación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2d624313899_0_5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21" name="Google Shape;221;g2d624313899_0_51"/>
          <p:cNvSpPr txBox="1">
            <a:spLocks noGrp="1"/>
          </p:cNvSpPr>
          <p:nvPr>
            <p:ph type="body" idx="1"/>
          </p:nvPr>
        </p:nvSpPr>
        <p:spPr>
          <a:xfrm>
            <a:off x="581200" y="1983000"/>
            <a:ext cx="8245500" cy="21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1.3 CREACIÓN DEL CLIENTE CONSOLA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s-ES" sz="1564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Crea una aplicación Java con Maven en NetBeans. Configura el cliente HTTP para comunicarse con la API REST y separa modelo, vista y controlador.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El cliente solicita las credenciales antes de mostrar las opciones de conversión.</a:t>
            </a:r>
            <a:endParaRPr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22" name="Google Shape;222;g2d624313899_0_5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Configuración del cliente de consola">
            <a:extLst>
              <a:ext uri="{FF2B5EF4-FFF2-40B4-BE49-F238E27FC236}">
                <a16:creationId xmlns:a16="http://schemas.microsoft.com/office/drawing/2014/main" id="{470F980C-FB47-44A7-A8A8-971BCFC63D51}"/>
              </a:ext>
            </a:extLst>
          </p:cNvPr>
          <p:cNvSpPr/>
          <p:nvPr/>
        </p:nvSpPr>
        <p:spPr>
          <a:xfrm>
            <a:off x="4740234" y="3657435"/>
            <a:ext cx="4201160" cy="284543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Configuración del cliente de consola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Creación del proyecto Java Maven">
            <a:extLst>
              <a:ext uri="{FF2B5EF4-FFF2-40B4-BE49-F238E27FC236}">
                <a16:creationId xmlns:a16="http://schemas.microsoft.com/office/drawing/2014/main" id="{85E12E47-F5C4-4ED2-9344-5707D2189E30}"/>
              </a:ext>
            </a:extLst>
          </p:cNvPr>
          <p:cNvSpPr/>
          <p:nvPr/>
        </p:nvSpPr>
        <p:spPr>
          <a:xfrm>
            <a:off x="466506" y="3674580"/>
            <a:ext cx="4144010" cy="282829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Creación del proyecto Java Maven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2d624313899_0_9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39" name="Google Shape;239;g2d624313899_0_95"/>
          <p:cNvSpPr txBox="1">
            <a:spLocks noGrp="1"/>
          </p:cNvSpPr>
          <p:nvPr>
            <p:ph type="body" idx="1"/>
          </p:nvPr>
        </p:nvSpPr>
        <p:spPr>
          <a:xfrm>
            <a:off x="514824" y="914626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Modelo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ConversionRequest representa la magnitud, el valor y las unidades que se enviarán en el cuerpo JSON.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40" name="Google Shape;240;g2d624313899_0_9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g2d624313899_0_95"/>
          <p:cNvSpPr txBox="1">
            <a:spLocks noGrp="1"/>
          </p:cNvSpPr>
          <p:nvPr>
            <p:ph type="body" idx="1"/>
          </p:nvPr>
        </p:nvSpPr>
        <p:spPr>
          <a:xfrm>
            <a:off x="4759292" y="770066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Controlador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El controlador usa RestClient para invocar la API HTTP, interpretar la respuesta JSON y presentar el resultado.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ontrolador y cliente de servicio">
            <a:extLst>
              <a:ext uri="{FF2B5EF4-FFF2-40B4-BE49-F238E27FC236}">
                <a16:creationId xmlns:a16="http://schemas.microsoft.com/office/drawing/2014/main" id="{EC1BEABE-3CC2-47C6-878A-D718228FE067}"/>
              </a:ext>
            </a:extLst>
          </p:cNvPr>
          <p:cNvSpPr/>
          <p:nvPr/>
        </p:nvSpPr>
        <p:spPr>
          <a:xfrm>
            <a:off x="4100618" y="4064763"/>
            <a:ext cx="5172027" cy="1777483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Controlador y cliente de servicio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Modelo de solicitud de conversión">
            <a:extLst>
              <a:ext uri="{FF2B5EF4-FFF2-40B4-BE49-F238E27FC236}">
                <a16:creationId xmlns:a16="http://schemas.microsoft.com/office/drawing/2014/main" id="{F56BC7F3-638C-483C-977F-A1DD0317B91F}"/>
              </a:ext>
            </a:extLst>
          </p:cNvPr>
          <p:cNvSpPr/>
          <p:nvPr/>
        </p:nvSpPr>
        <p:spPr>
          <a:xfrm>
            <a:off x="811793" y="4064763"/>
            <a:ext cx="2955257" cy="185048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Modelo de solicitud de conversión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2d624313899_0_11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49" name="Google Shape;249;g2d624313899_0_111"/>
          <p:cNvSpPr txBox="1">
            <a:spLocks noGrp="1"/>
          </p:cNvSpPr>
          <p:nvPr>
            <p:ph type="body" idx="1"/>
          </p:nvPr>
        </p:nvSpPr>
        <p:spPr>
          <a:xfrm>
            <a:off x="478225" y="1986150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Vista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La vista de consola guía el inicio de sesión y ofrece opciones para convertir longitud, masa o temperatura. Muestra mensajes de validación y el resultado con dos decimales.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50" name="Google Shape;250;g2d624313899_0_11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Menú y vista del cliente de consola">
            <a:extLst>
              <a:ext uri="{FF2B5EF4-FFF2-40B4-BE49-F238E27FC236}">
                <a16:creationId xmlns:a16="http://schemas.microsoft.com/office/drawing/2014/main" id="{7ED2DC89-90CA-4D4C-8DDE-39E28A817C05}"/>
              </a:ext>
            </a:extLst>
          </p:cNvPr>
          <p:cNvSpPr/>
          <p:nvPr/>
        </p:nvSpPr>
        <p:spPr>
          <a:xfrm>
            <a:off x="4361215" y="2617179"/>
            <a:ext cx="4878474" cy="2609244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Menú y vista del cliente de consola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2d624313899_0_13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57" name="Google Shape;257;g2d624313899_0_138"/>
          <p:cNvSpPr txBox="1">
            <a:spLocks noGrp="1"/>
          </p:cNvSpPr>
          <p:nvPr>
            <p:ph type="body" idx="1"/>
          </p:nvPr>
        </p:nvSpPr>
        <p:spPr>
          <a:xfrm>
            <a:off x="581660" y="1930400"/>
            <a:ext cx="2413000" cy="6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Ejecución del Proyecto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58" name="Google Shape;258;g2d624313899_0_13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Resultado de conversión">
            <a:extLst>
              <a:ext uri="{FF2B5EF4-FFF2-40B4-BE49-F238E27FC236}">
                <a16:creationId xmlns:a16="http://schemas.microsoft.com/office/drawing/2014/main" id="{E21B58B1-4044-4DC0-8DA3-EB703ACEED95}"/>
              </a:ext>
            </a:extLst>
          </p:cNvPr>
          <p:cNvSpPr/>
          <p:nvPr/>
        </p:nvSpPr>
        <p:spPr>
          <a:xfrm>
            <a:off x="6143877" y="3004463"/>
            <a:ext cx="2928406" cy="264367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Resultado de conversión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Selección de magnitud y unidades">
            <a:extLst>
              <a:ext uri="{FF2B5EF4-FFF2-40B4-BE49-F238E27FC236}">
                <a16:creationId xmlns:a16="http://schemas.microsoft.com/office/drawing/2014/main" id="{E4CAECE9-3FFC-4C88-A4D5-375779427E2C}"/>
              </a:ext>
            </a:extLst>
          </p:cNvPr>
          <p:cNvSpPr/>
          <p:nvPr/>
        </p:nvSpPr>
        <p:spPr>
          <a:xfrm>
            <a:off x="3227647" y="3004463"/>
            <a:ext cx="2808301" cy="264367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Selección de magnitud y unidades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Autenticación correcta">
            <a:extLst>
              <a:ext uri="{FF2B5EF4-FFF2-40B4-BE49-F238E27FC236}">
                <a16:creationId xmlns:a16="http://schemas.microsoft.com/office/drawing/2014/main" id="{3A66B1A8-66BC-4834-9397-19290233A0F8}"/>
              </a:ext>
            </a:extLst>
          </p:cNvPr>
          <p:cNvSpPr/>
          <p:nvPr/>
        </p:nvSpPr>
        <p:spPr>
          <a:xfrm>
            <a:off x="311657" y="3004463"/>
            <a:ext cx="2808061" cy="264367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Autenticación correcta</a:t>
            </a:r>
          </a:p>
        </p:txBody>
      </p:sp>
      <p:sp>
        <p:nvSpPr>
          <p:cNvPr id="5" name="CAPTURA PENDIENTE - Inicio del cliente">
            <a:extLst>
              <a:ext uri="{FF2B5EF4-FFF2-40B4-BE49-F238E27FC236}">
                <a16:creationId xmlns:a16="http://schemas.microsoft.com/office/drawing/2014/main" id="{177E390A-90F6-42BA-A0CF-1B58A0837155}"/>
              </a:ext>
            </a:extLst>
          </p:cNvPr>
          <p:cNvSpPr/>
          <p:nvPr/>
        </p:nvSpPr>
        <p:spPr>
          <a:xfrm>
            <a:off x="3227647" y="1933668"/>
            <a:ext cx="2868295" cy="80327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Inicio del cliente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68" name="Google Shape;268;p2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27"/>
          <p:cNvSpPr txBox="1">
            <a:spLocks noGrp="1"/>
          </p:cNvSpPr>
          <p:nvPr>
            <p:ph type="body" idx="1"/>
          </p:nvPr>
        </p:nvSpPr>
        <p:spPr>
          <a:xfrm>
            <a:off x="581200" y="1902979"/>
            <a:ext cx="8589300" cy="11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1.4 CREACIÓN DEL PROYECTO – CLIENTE ESCRITORIO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endParaRPr lang="es-ES" b="1"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Crea la aplicación Java de escritorio con Maven. La interfaz Swing consume la API REST y sigue el patrón Modelo-Vista-Controlador.</a:t>
            </a:r>
            <a:endParaRPr lang="es-MX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reación del proyecto de escritorio Java">
            <a:extLst>
              <a:ext uri="{FF2B5EF4-FFF2-40B4-BE49-F238E27FC236}">
                <a16:creationId xmlns:a16="http://schemas.microsoft.com/office/drawing/2014/main" id="{663269E7-24D7-4AA2-A226-27FB469FF3D9}"/>
              </a:ext>
            </a:extLst>
          </p:cNvPr>
          <p:cNvSpPr/>
          <p:nvPr/>
        </p:nvSpPr>
        <p:spPr>
          <a:xfrm>
            <a:off x="2544819" y="3270983"/>
            <a:ext cx="4144010" cy="282829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Creación del proyecto de escritorio Java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31974b856cc_0_10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01" name="Google Shape;301;g31974b856cc_0_10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g31974b856cc_0_109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El cliente Swing organiza la interfaz, el estado de conversión y el consumo HTTP/JSON con el patrón MVC.</a:t>
            </a:r>
            <a:endParaRPr lang="es-MX"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04F47827-A8E1-4FFA-A232-83861B9D7BF5}"/>
              </a:ext>
            </a:extLst>
          </p:cNvPr>
          <p:cNvSpPr txBox="1"/>
          <p:nvPr/>
        </p:nvSpPr>
        <p:spPr>
          <a:xfrm>
            <a:off x="762109" y="3269217"/>
            <a:ext cx="171215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mbria"/>
                <a:ea typeface="Cambria"/>
                <a:cs typeface="Cambria"/>
                <a:sym typeface="Cambria"/>
              </a:rPr>
              <a:t>Modelo: conserva los datos de sesión y de la conversión.</a:t>
            </a:r>
            <a:endParaRPr lang="es-EC" dirty="0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AE216B3-B851-4BA3-899E-396EB3A18BA2}"/>
              </a:ext>
            </a:extLst>
          </p:cNvPr>
          <p:cNvSpPr txBox="1"/>
          <p:nvPr/>
        </p:nvSpPr>
        <p:spPr>
          <a:xfrm>
            <a:off x="6214191" y="4553152"/>
            <a:ext cx="263338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mbria"/>
                <a:ea typeface="Cambria"/>
                <a:cs typeface="Cambria"/>
                <a:sym typeface="Cambria"/>
              </a:rPr>
              <a:t>Controlador: valida entradas y coordina la solicitud HTTP/JSON.</a:t>
            </a:r>
            <a:endParaRPr lang="es-EC" dirty="0"/>
          </a:p>
        </p:txBody>
      </p:sp>
      <p:sp>
        <p:nvSpPr>
          <p:cNvPr id="2" name="CAPTURA PENDIENTE - Clases del cliente de escritorio">
            <a:extLst>
              <a:ext uri="{FF2B5EF4-FFF2-40B4-BE49-F238E27FC236}">
                <a16:creationId xmlns:a16="http://schemas.microsoft.com/office/drawing/2014/main" id="{3E48AA06-D457-4923-9F04-A4D9C744287E}"/>
              </a:ext>
            </a:extLst>
          </p:cNvPr>
          <p:cNvSpPr/>
          <p:nvPr/>
        </p:nvSpPr>
        <p:spPr>
          <a:xfrm>
            <a:off x="2474259" y="4377212"/>
            <a:ext cx="3666875" cy="235536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Clases del cliente de escritorio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Código de controlador">
            <a:extLst>
              <a:ext uri="{FF2B5EF4-FFF2-40B4-BE49-F238E27FC236}">
                <a16:creationId xmlns:a16="http://schemas.microsoft.com/office/drawing/2014/main" id="{43BF684B-EF2E-4949-AFE7-D0BD1F0D762A}"/>
              </a:ext>
            </a:extLst>
          </p:cNvPr>
          <p:cNvSpPr/>
          <p:nvPr/>
        </p:nvSpPr>
        <p:spPr>
          <a:xfrm>
            <a:off x="5925023" y="3893361"/>
            <a:ext cx="2743200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pt-BR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pt-BR" sz="900" i="1">
                <a:solidFill>
                  <a:srgbClr val="666666"/>
                </a:solidFill>
                <a:latin typeface="Arial" panose="020B0604020202020204" pitchFamily="34" charset="0"/>
              </a:rPr>
              <a:t>Código de controlador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Código de modelo">
            <a:extLst>
              <a:ext uri="{FF2B5EF4-FFF2-40B4-BE49-F238E27FC236}">
                <a16:creationId xmlns:a16="http://schemas.microsoft.com/office/drawing/2014/main" id="{111AEBB2-3286-4EF1-88DC-095C99C56314}"/>
              </a:ext>
            </a:extLst>
          </p:cNvPr>
          <p:cNvSpPr/>
          <p:nvPr/>
        </p:nvSpPr>
        <p:spPr>
          <a:xfrm>
            <a:off x="2611811" y="3836431"/>
            <a:ext cx="2476500" cy="3429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pt-BR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pt-BR" sz="900" i="1">
                <a:solidFill>
                  <a:srgbClr val="666666"/>
                </a:solidFill>
                <a:latin typeface="Arial" panose="020B0604020202020204" pitchFamily="34" charset="0"/>
              </a:rPr>
              <a:t>Código de modelo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5" name="CAPTURA PENDIENTE - Estructura de paquetes MVC">
            <a:extLst>
              <a:ext uri="{FF2B5EF4-FFF2-40B4-BE49-F238E27FC236}">
                <a16:creationId xmlns:a16="http://schemas.microsoft.com/office/drawing/2014/main" id="{BFE6003C-75DA-45A6-B0A3-DFE0CFC4C742}"/>
              </a:ext>
            </a:extLst>
          </p:cNvPr>
          <p:cNvSpPr/>
          <p:nvPr/>
        </p:nvSpPr>
        <p:spPr>
          <a:xfrm>
            <a:off x="5088311" y="2609850"/>
            <a:ext cx="3019425" cy="10287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Estructura de paquetes MVC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31974b856cc_0_12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09" name="Google Shape;309;g31974b856cc_0_12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g31974b856cc_0_128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 sz="180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La vista Swing contiene las ventanas de autenticación y conversión. Los controles permiten seleccionar magnitud y unidades, ingresar el valor y consultar el resultado.</a:t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Interfaz Swing de autenticación y conversión">
            <a:extLst>
              <a:ext uri="{FF2B5EF4-FFF2-40B4-BE49-F238E27FC236}">
                <a16:creationId xmlns:a16="http://schemas.microsoft.com/office/drawing/2014/main" id="{FD6BCCEA-27B7-4124-B944-480E5C1E86BF}"/>
              </a:ext>
            </a:extLst>
          </p:cNvPr>
          <p:cNvSpPr/>
          <p:nvPr/>
        </p:nvSpPr>
        <p:spPr>
          <a:xfrm>
            <a:off x="699248" y="2831802"/>
            <a:ext cx="8424537" cy="3324041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Interfaz Swing de autenticación y conversión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1974b856cc_0_13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17" name="Google Shape;317;g31974b856cc_0_13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g31974b856cc_0_137"/>
          <p:cNvSpPr txBox="1">
            <a:spLocks noGrp="1"/>
          </p:cNvSpPr>
          <p:nvPr>
            <p:ph type="body" idx="1"/>
          </p:nvPr>
        </p:nvSpPr>
        <p:spPr>
          <a:xfrm>
            <a:off x="6326975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Inicio de sesión del cliente de escritorio. Ingresa MONSTER / MONSTER9 para acceder al conversor.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Pantalla de inicio de sesión del escritorio">
            <a:extLst>
              <a:ext uri="{FF2B5EF4-FFF2-40B4-BE49-F238E27FC236}">
                <a16:creationId xmlns:a16="http://schemas.microsoft.com/office/drawing/2014/main" id="{091CA7AD-0B4C-4DD1-82AB-5CD1430BF9D4}"/>
              </a:ext>
            </a:extLst>
          </p:cNvPr>
          <p:cNvSpPr/>
          <p:nvPr/>
        </p:nvSpPr>
        <p:spPr>
          <a:xfrm>
            <a:off x="581192" y="2329030"/>
            <a:ext cx="5218973" cy="3336664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Pantalla de inicio de sesión del escritorio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d6d00c5bd2_2_1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35" name="Google Shape;335;g2d6d00c5bd2_2_1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g2d6d00c5bd2_2_19"/>
          <p:cNvSpPr txBox="1">
            <a:spLocks noGrp="1"/>
          </p:cNvSpPr>
          <p:nvPr>
            <p:ph type="body" idx="1"/>
          </p:nvPr>
        </p:nvSpPr>
        <p:spPr>
          <a:xfrm>
            <a:off x="5791950" y="2411875"/>
            <a:ext cx="32289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Formulario de conversión. Selecciona la magnitud, las unidades de origen y destino, e ingresa el valor que se enviará a la API REST.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Formulario de conversión del escritorio">
            <a:extLst>
              <a:ext uri="{FF2B5EF4-FFF2-40B4-BE49-F238E27FC236}">
                <a16:creationId xmlns:a16="http://schemas.microsoft.com/office/drawing/2014/main" id="{8127F732-C93D-4E2A-B778-8E58DD31545F}"/>
              </a:ext>
            </a:extLst>
          </p:cNvPr>
          <p:cNvSpPr/>
          <p:nvPr/>
        </p:nvSpPr>
        <p:spPr>
          <a:xfrm>
            <a:off x="1131103" y="2513572"/>
            <a:ext cx="3898097" cy="3116263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Formulario de conversión del escritorio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3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43" name="Google Shape;343;p3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32"/>
          <p:cNvSpPr txBox="1"/>
          <p:nvPr/>
        </p:nvSpPr>
        <p:spPr>
          <a:xfrm>
            <a:off x="636600" y="1868348"/>
            <a:ext cx="8576700" cy="18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2500" lnSpcReduction="10000"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1.5 CREACIÓN DEL PROYECTO – CLIENTE WEB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endParaRPr lang="es-ES" sz="1800" b="1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El cliente web usa Jetty 11 embebido en el puerto 8081. HTML y JavaScript presentan las pantallas; los Servlets gestionan la sesión y las solicitudes HTTP/JSON a la API REST.</a:t>
            </a:r>
            <a:endParaRPr sz="2000" dirty="0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onfiguración de Jetty y Servlets">
            <a:extLst>
              <a:ext uri="{FF2B5EF4-FFF2-40B4-BE49-F238E27FC236}">
                <a16:creationId xmlns:a16="http://schemas.microsoft.com/office/drawing/2014/main" id="{1ED333B1-B57A-47DA-B5B8-5256D401FF3B}"/>
              </a:ext>
            </a:extLst>
          </p:cNvPr>
          <p:cNvSpPr/>
          <p:nvPr/>
        </p:nvSpPr>
        <p:spPr>
          <a:xfrm>
            <a:off x="3863999" y="3524211"/>
            <a:ext cx="4959666" cy="3037954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Configuración de Jetty y Servlets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Estructura del cliente web">
            <a:extLst>
              <a:ext uri="{FF2B5EF4-FFF2-40B4-BE49-F238E27FC236}">
                <a16:creationId xmlns:a16="http://schemas.microsoft.com/office/drawing/2014/main" id="{D4EC0DD7-0BA2-43B1-9C3E-B21DA267F73A}"/>
              </a:ext>
            </a:extLst>
          </p:cNvPr>
          <p:cNvSpPr/>
          <p:nvPr/>
        </p:nvSpPr>
        <p:spPr>
          <a:xfrm>
            <a:off x="1211356" y="3839056"/>
            <a:ext cx="2095500" cy="56197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Estructura del cliente web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319782968e5_0_8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77" name="Google Shape;377;g319782968e5_0_8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g319782968e5_0_88"/>
          <p:cNvSpPr txBox="1">
            <a:spLocks noGrp="1"/>
          </p:cNvSpPr>
          <p:nvPr>
            <p:ph type="body" idx="1"/>
          </p:nvPr>
        </p:nvSpPr>
        <p:spPr>
          <a:xfrm>
            <a:off x="581200" y="19444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 sz="180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La página conversor.html ofrece formularios para seleccionar magnitud y unidades, ingresar el valor y mostrar la respuesta. ConversionServlet comunica el cliente web con los recursos REST.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7EBFFD51-1503-4BCA-8CB9-C70596A06975}"/>
              </a:ext>
            </a:extLst>
          </p:cNvPr>
          <p:cNvSpPr txBox="1"/>
          <p:nvPr/>
        </p:nvSpPr>
        <p:spPr>
          <a:xfrm>
            <a:off x="719417" y="4185628"/>
            <a:ext cx="262441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sym typeface="Gill Sans"/>
              </a:rPr>
              <a:t>El formulario envía los datos al Servlet y presenta el resultado de la conversión.</a:t>
            </a:r>
            <a:endParaRPr lang="es-EC" dirty="0"/>
          </a:p>
        </p:txBody>
      </p:sp>
      <p:sp>
        <p:nvSpPr>
          <p:cNvPr id="2" name="CAPTURA PENDIENTE - Formulario y respuesta del cliente web">
            <a:extLst>
              <a:ext uri="{FF2B5EF4-FFF2-40B4-BE49-F238E27FC236}">
                <a16:creationId xmlns:a16="http://schemas.microsoft.com/office/drawing/2014/main" id="{50F1EE2D-3E68-4D94-93CB-4966AFFED2EE}"/>
              </a:ext>
            </a:extLst>
          </p:cNvPr>
          <p:cNvSpPr/>
          <p:nvPr/>
        </p:nvSpPr>
        <p:spPr>
          <a:xfrm>
            <a:off x="3679277" y="3132944"/>
            <a:ext cx="3959600" cy="354539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Formulario y respuesta del cliente web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Pantalla web de conversión">
            <a:extLst>
              <a:ext uri="{FF2B5EF4-FFF2-40B4-BE49-F238E27FC236}">
                <a16:creationId xmlns:a16="http://schemas.microsoft.com/office/drawing/2014/main" id="{5324AC23-B32E-46E5-90FD-3A5E7DF924FA}"/>
              </a:ext>
            </a:extLst>
          </p:cNvPr>
          <p:cNvSpPr/>
          <p:nvPr/>
        </p:nvSpPr>
        <p:spPr>
          <a:xfrm>
            <a:off x="841168" y="3132944"/>
            <a:ext cx="1448002" cy="905001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Pantalla web de conversión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319782968e5_0_7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85" name="Google Shape;385;g319782968e5_0_7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g319782968e5_0_73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index.html presenta el formulario de inicio de sesión. LoginServlet valida las credenciales y habilita el acceso al conversor cuando son correctas.</a:t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Pantalla web de inicio de sesión">
            <a:extLst>
              <a:ext uri="{FF2B5EF4-FFF2-40B4-BE49-F238E27FC236}">
                <a16:creationId xmlns:a16="http://schemas.microsoft.com/office/drawing/2014/main" id="{3F838D8B-14B2-4CD8-9567-BA215EFD5B81}"/>
              </a:ext>
            </a:extLst>
          </p:cNvPr>
          <p:cNvSpPr/>
          <p:nvPr/>
        </p:nvSpPr>
        <p:spPr>
          <a:xfrm>
            <a:off x="2804070" y="2850777"/>
            <a:ext cx="4143559" cy="3708703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Pantalla web de inicio de sesión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19782968e5_0_11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01" name="Google Shape;401;g319782968e5_0_11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g319782968e5_0_112"/>
          <p:cNvSpPr txBox="1">
            <a:spLocks noGrp="1"/>
          </p:cNvSpPr>
          <p:nvPr>
            <p:ph type="body" idx="1"/>
          </p:nvPr>
        </p:nvSpPr>
        <p:spPr>
          <a:xfrm>
            <a:off x="1039100" y="1913200"/>
            <a:ext cx="8038500" cy="180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Inicia el servidor REST y después el cliente web. Abre http://localhost:8081/ClienteWeb/ en el navegador para acceder al formulario de autenticación y las funciones de conversión.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liente web ejecutándose en el navegador">
            <a:extLst>
              <a:ext uri="{FF2B5EF4-FFF2-40B4-BE49-F238E27FC236}">
                <a16:creationId xmlns:a16="http://schemas.microsoft.com/office/drawing/2014/main" id="{3BC82B9D-141E-4A6F-B487-EA586761DCF3}"/>
              </a:ext>
            </a:extLst>
          </p:cNvPr>
          <p:cNvSpPr/>
          <p:nvPr/>
        </p:nvSpPr>
        <p:spPr>
          <a:xfrm>
            <a:off x="3135268" y="3257334"/>
            <a:ext cx="3200847" cy="3086531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Cliente web ejecutándose en el navegador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g319782968e5_0_13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11" name="Google Shape;411;g319782968e5_0_13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g319782968e5_0_135"/>
          <p:cNvSpPr txBox="1">
            <a:spLocks noGrp="1"/>
          </p:cNvSpPr>
          <p:nvPr>
            <p:ph type="body" idx="1"/>
          </p:nvPr>
        </p:nvSpPr>
        <p:spPr>
          <a:xfrm>
            <a:off x="6326975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Acceso al cliente web. Ingresa MONSTER / MONSTER9; una sesión válida permite continuar a la pantalla de conversión.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Autenticación en el cliente web">
            <a:extLst>
              <a:ext uri="{FF2B5EF4-FFF2-40B4-BE49-F238E27FC236}">
                <a16:creationId xmlns:a16="http://schemas.microsoft.com/office/drawing/2014/main" id="{C394E801-C15E-45DC-B260-08AA3ABADAE5}"/>
              </a:ext>
            </a:extLst>
          </p:cNvPr>
          <p:cNvSpPr/>
          <p:nvPr/>
        </p:nvSpPr>
        <p:spPr>
          <a:xfrm>
            <a:off x="803359" y="2804085"/>
            <a:ext cx="5399405" cy="27559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Autenticación en el cliente web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319782968e5_0_12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19" name="Google Shape;419;g319782968e5_0_12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g319782968e5_0_123"/>
          <p:cNvSpPr txBox="1">
            <a:spLocks noGrp="1"/>
          </p:cNvSpPr>
          <p:nvPr>
            <p:ph type="body" idx="1"/>
          </p:nvPr>
        </p:nvSpPr>
        <p:spPr>
          <a:xfrm>
            <a:off x="581200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Selecciona longitud, masa o temperatura. Ingresa un valor y las unidades de origen y destino; el cliente envía una solicitud JSON y muestra el resultado con dos decimales.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onversión realizada desde el cliente web">
            <a:extLst>
              <a:ext uri="{FF2B5EF4-FFF2-40B4-BE49-F238E27FC236}">
                <a16:creationId xmlns:a16="http://schemas.microsoft.com/office/drawing/2014/main" id="{9BC455B7-E39D-443C-87AE-7A64222F6181}"/>
              </a:ext>
            </a:extLst>
          </p:cNvPr>
          <p:cNvSpPr/>
          <p:nvPr/>
        </p:nvSpPr>
        <p:spPr>
          <a:xfrm>
            <a:off x="3686896" y="2718547"/>
            <a:ext cx="5399405" cy="28194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Conversión realizada desde el cliente web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3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27" name="Google Shape;427;p3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37"/>
          <p:cNvSpPr txBox="1"/>
          <p:nvPr/>
        </p:nvSpPr>
        <p:spPr>
          <a:xfrm>
            <a:off x="406975" y="1921878"/>
            <a:ext cx="8576700" cy="7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1.6 CLIENTE MÓVIL</a:t>
            </a:r>
            <a:endParaRPr sz="1800" b="0" i="0" u="none" strike="noStrike" cap="none">
              <a:solidFill>
                <a:srgbClr val="3D3D3D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429" name="Google Shape;429;p37"/>
          <p:cNvSpPr txBox="1">
            <a:spLocks noGrp="1"/>
          </p:cNvSpPr>
          <p:nvPr>
            <p:ph type="body" idx="1"/>
          </p:nvPr>
        </p:nvSpPr>
        <p:spPr>
          <a:xfrm>
            <a:off x="581200" y="2253923"/>
            <a:ext cx="41781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Crea una aplicación Android con Java y una actividad vacía. Usa HttpURLConnection y org.json para consumir la API REST.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Configura una dirección de host accesible desde el emulador o dispositivo físico.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onfiguración del proyecto y dependencia cliente">
            <a:extLst>
              <a:ext uri="{FF2B5EF4-FFF2-40B4-BE49-F238E27FC236}">
                <a16:creationId xmlns:a16="http://schemas.microsoft.com/office/drawing/2014/main" id="{50C86C09-A255-49F6-9411-BB349FB96D6B}"/>
              </a:ext>
            </a:extLst>
          </p:cNvPr>
          <p:cNvSpPr/>
          <p:nvPr/>
        </p:nvSpPr>
        <p:spPr>
          <a:xfrm>
            <a:off x="904275" y="5528800"/>
            <a:ext cx="4335775" cy="5995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Configuración del proyecto y dependencia cliente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Creación de actividad Android">
            <a:extLst>
              <a:ext uri="{FF2B5EF4-FFF2-40B4-BE49-F238E27FC236}">
                <a16:creationId xmlns:a16="http://schemas.microsoft.com/office/drawing/2014/main" id="{25DA522F-0895-4629-81B9-37D7BCB50BF3}"/>
              </a:ext>
            </a:extLst>
          </p:cNvPr>
          <p:cNvSpPr/>
          <p:nvPr/>
        </p:nvSpPr>
        <p:spPr>
          <a:xfrm>
            <a:off x="5410937" y="4209124"/>
            <a:ext cx="3622500" cy="1917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Creación de actividad Android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Captura del módulo descrito en esta diapositiva">
            <a:extLst>
              <a:ext uri="{FF2B5EF4-FFF2-40B4-BE49-F238E27FC236}">
                <a16:creationId xmlns:a16="http://schemas.microsoft.com/office/drawing/2014/main" id="{554899BC-2CDC-4865-BB5B-01E3D2D8969A}"/>
              </a:ext>
            </a:extLst>
          </p:cNvPr>
          <p:cNvSpPr/>
          <p:nvPr/>
        </p:nvSpPr>
        <p:spPr>
          <a:xfrm>
            <a:off x="6418749" y="2402189"/>
            <a:ext cx="1606875" cy="16918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del módulo descrito en esta diapositiva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2d624313899_0_15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38" name="Google Shape;438;g2d624313899_0_15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g2d624313899_0_157"/>
          <p:cNvSpPr txBox="1">
            <a:spLocks noGrp="1"/>
          </p:cNvSpPr>
          <p:nvPr>
            <p:ph type="body" idx="1"/>
          </p:nvPr>
        </p:nvSpPr>
        <p:spPr>
          <a:xfrm>
            <a:off x="581200" y="2253925"/>
            <a:ext cx="3644100" cy="3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14467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Estructura del Proyecto (MVC)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14467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La aplicación separa actividades de interfaz, controladores, modelos y cliente REST. El patrón MVC organiza el inicio de sesión y el flujo de conversión.</a:t>
            </a:r>
            <a:endParaRPr lang="es-EC" sz="1564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Paquetes y estructura MVC de Android">
            <a:extLst>
              <a:ext uri="{FF2B5EF4-FFF2-40B4-BE49-F238E27FC236}">
                <a16:creationId xmlns:a16="http://schemas.microsoft.com/office/drawing/2014/main" id="{112061D5-DCD0-40EF-968A-DFC2D04FA81D}"/>
              </a:ext>
            </a:extLst>
          </p:cNvPr>
          <p:cNvSpPr/>
          <p:nvPr/>
        </p:nvSpPr>
        <p:spPr>
          <a:xfrm>
            <a:off x="4741537" y="2559253"/>
            <a:ext cx="3225165" cy="315976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Paquetes y estructura MVC de Android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g2d624313899_0_17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46" name="Google Shape;446;g2d624313899_0_17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g2d624313899_0_172"/>
          <p:cNvSpPr txBox="1">
            <a:spLocks noGrp="1"/>
          </p:cNvSpPr>
          <p:nvPr>
            <p:ph type="body" idx="1"/>
          </p:nvPr>
        </p:nvSpPr>
        <p:spPr>
          <a:xfrm>
            <a:off x="491075" y="129425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Modelo: RestClient.java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Usa HttpURLConnection y org.json para enviar solicitudes HTTP y procesar respuestas JSON.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48" name="Google Shape;448;g2d624313899_0_172"/>
          <p:cNvSpPr txBox="1">
            <a:spLocks noGrp="1"/>
          </p:cNvSpPr>
          <p:nvPr>
            <p:ph type="body" idx="1"/>
          </p:nvPr>
        </p:nvSpPr>
        <p:spPr>
          <a:xfrm>
            <a:off x="4698075" y="137660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Controlador: ConversionController.java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Coordina la selección de unidades, valida los datos y solicita la conversión al recurso REST correspondiente.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ontrolador de conversión móvil">
            <a:extLst>
              <a:ext uri="{FF2B5EF4-FFF2-40B4-BE49-F238E27FC236}">
                <a16:creationId xmlns:a16="http://schemas.microsoft.com/office/drawing/2014/main" id="{4B592B61-C742-4195-8165-417B6E42D4FC}"/>
              </a:ext>
            </a:extLst>
          </p:cNvPr>
          <p:cNvSpPr/>
          <p:nvPr/>
        </p:nvSpPr>
        <p:spPr>
          <a:xfrm>
            <a:off x="4980331" y="3429000"/>
            <a:ext cx="3802710" cy="2848362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Controlador de conversión móvil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Cliente SOAP/REST del móvil">
            <a:extLst>
              <a:ext uri="{FF2B5EF4-FFF2-40B4-BE49-F238E27FC236}">
                <a16:creationId xmlns:a16="http://schemas.microsoft.com/office/drawing/2014/main" id="{E833F513-8033-4416-9E1E-E4BA1533EA86}"/>
              </a:ext>
            </a:extLst>
          </p:cNvPr>
          <p:cNvSpPr/>
          <p:nvPr/>
        </p:nvSpPr>
        <p:spPr>
          <a:xfrm>
            <a:off x="491075" y="3711388"/>
            <a:ext cx="3478914" cy="225971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Cliente SOAP/REST del móvil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2d624313899_0_19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56" name="Google Shape;456;g2d624313899_0_19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g2d624313899_0_193"/>
          <p:cNvSpPr txBox="1">
            <a:spLocks noGrp="1"/>
          </p:cNvSpPr>
          <p:nvPr>
            <p:ph type="body" idx="1"/>
          </p:nvPr>
        </p:nvSpPr>
        <p:spPr>
          <a:xfrm>
            <a:off x="491075" y="129425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Vista: LoginActivity.java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Solicita las credenciales MONSTER / MONSTER9 y dirige a la conversión tras una respuesta válida.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58" name="Google Shape;458;g2d624313899_0_193"/>
          <p:cNvSpPr txBox="1">
            <a:spLocks noGrp="1"/>
          </p:cNvSpPr>
          <p:nvPr>
            <p:ph type="body" idx="1"/>
          </p:nvPr>
        </p:nvSpPr>
        <p:spPr>
          <a:xfrm>
            <a:off x="4698075" y="137660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Vista: ConversionActivity.java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Permite elegir magnitud y unidades, ingresar el valor y consultar el resultado de la API REST.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Pantalla móvil de conversión">
            <a:extLst>
              <a:ext uri="{FF2B5EF4-FFF2-40B4-BE49-F238E27FC236}">
                <a16:creationId xmlns:a16="http://schemas.microsoft.com/office/drawing/2014/main" id="{5D2BE896-C9D6-4451-8421-875BD8CFF0FD}"/>
              </a:ext>
            </a:extLst>
          </p:cNvPr>
          <p:cNvSpPr/>
          <p:nvPr/>
        </p:nvSpPr>
        <p:spPr>
          <a:xfrm>
            <a:off x="5096586" y="3395466"/>
            <a:ext cx="3346888" cy="312125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Pantalla móvil de conversión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Pantalla móvil de inicio de sesión">
            <a:extLst>
              <a:ext uri="{FF2B5EF4-FFF2-40B4-BE49-F238E27FC236}">
                <a16:creationId xmlns:a16="http://schemas.microsoft.com/office/drawing/2014/main" id="{19BF357B-B2D4-4484-A803-3A3A0B58DA81}"/>
              </a:ext>
            </a:extLst>
          </p:cNvPr>
          <p:cNvSpPr/>
          <p:nvPr/>
        </p:nvSpPr>
        <p:spPr>
          <a:xfrm>
            <a:off x="595071" y="3523400"/>
            <a:ext cx="3704493" cy="2290259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Pantalla móvil de inicio de sesión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2d6d00c5bd2_3_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94" name="Google Shape;494;g2d6d00c5bd2_3_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g2d6d00c5bd2_3_16"/>
          <p:cNvSpPr txBox="1">
            <a:spLocks noGrp="1"/>
          </p:cNvSpPr>
          <p:nvPr>
            <p:ph type="body" idx="1"/>
          </p:nvPr>
        </p:nvSpPr>
        <p:spPr>
          <a:xfrm>
            <a:off x="581200" y="1984125"/>
            <a:ext cx="8589300" cy="11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457200" lvl="0" indent="-31798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91998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Ejecuta primero el servidor REST. Luego inicia la aplicación en un emulador o dispositivo Android y verifica el acceso al host y al puerto del servicio (8080 o 8085).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Ejecución en dispositivo físico">
            <a:extLst>
              <a:ext uri="{FF2B5EF4-FFF2-40B4-BE49-F238E27FC236}">
                <a16:creationId xmlns:a16="http://schemas.microsoft.com/office/drawing/2014/main" id="{F7F24898-5E29-416B-B91C-F98BB55D46E4}"/>
              </a:ext>
            </a:extLst>
          </p:cNvPr>
          <p:cNvSpPr/>
          <p:nvPr/>
        </p:nvSpPr>
        <p:spPr>
          <a:xfrm>
            <a:off x="4375360" y="3132224"/>
            <a:ext cx="1577205" cy="34697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Ejecución en dispositivo físico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Ejecución en emulador">
            <a:extLst>
              <a:ext uri="{FF2B5EF4-FFF2-40B4-BE49-F238E27FC236}">
                <a16:creationId xmlns:a16="http://schemas.microsoft.com/office/drawing/2014/main" id="{2D123914-A870-495A-8538-9F7179BF353B}"/>
              </a:ext>
            </a:extLst>
          </p:cNvPr>
          <p:cNvSpPr/>
          <p:nvPr/>
        </p:nvSpPr>
        <p:spPr>
          <a:xfrm>
            <a:off x="2107289" y="3132225"/>
            <a:ext cx="1720640" cy="34697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Ejecución en emulador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4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CONCLUSIONES</a:t>
            </a:r>
            <a:endParaRPr/>
          </a:p>
        </p:txBody>
      </p:sp>
      <p:sp>
        <p:nvSpPr>
          <p:cNvPr id="503" name="Google Shape;503;p41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8589300" cy="36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lang="es-ES" sz="1900">
                <a:latin typeface="Cambria"/>
                <a:ea typeface="Cambria"/>
                <a:cs typeface="Cambria"/>
                <a:sym typeface="Cambria"/>
              </a:rPr>
              <a:t>El sistema mantiene una lógica de conversión común para las aplicaciones de consola, escritorio, web y móvil. RESTful publica recursos HTTP/JSON que los clientes Java consumen mediante solicitudes web.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lang="es-ES" sz="1900">
                <a:latin typeface="Cambria"/>
                <a:ea typeface="Cambria"/>
                <a:cs typeface="Cambria"/>
                <a:sym typeface="Cambria"/>
              </a:rPr>
              <a:t>La autenticación se realiza antes de convertir y las unidades se organizan en tres magnitudes. La solución es SINBDD: utiliza datos en memoria y no requiere persistencia en una base de datos.</a:t>
            </a:r>
            <a:endParaRPr sz="1900" dirty="0"/>
          </a:p>
        </p:txBody>
      </p:sp>
      <p:sp>
        <p:nvSpPr>
          <p:cNvPr id="504" name="Google Shape;504;p4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4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RECOMENDACIONES</a:t>
            </a:r>
            <a:endParaRPr/>
          </a:p>
        </p:txBody>
      </p:sp>
      <p:sp>
        <p:nvSpPr>
          <p:cNvPr id="510" name="Google Shape;510;p42"/>
          <p:cNvSpPr txBox="1">
            <a:spLocks noGrp="1"/>
          </p:cNvSpPr>
          <p:nvPr>
            <p:ph type="body" idx="1"/>
          </p:nvPr>
        </p:nvSpPr>
        <p:spPr>
          <a:xfrm>
            <a:off x="581200" y="2025325"/>
            <a:ext cx="8500800" cy="429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Mantén el servidor activo antes de iniciar los clientes y prueba cada recurso con valores conocidos.</a:t>
            </a:r>
          </a:p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Conserva sincronizados las rutas REST, los modelos JSON y las respuestas de los cuatro clientes.</a:t>
            </a:r>
          </a:p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Al tomar capturas para el manual, incluye el inicio de sesión, una conversión por magnitud y la ejecución del servidor. Registra la solicitud, las unidades y el resultado visible.</a:t>
            </a:r>
            <a:endParaRPr lang="es-MX" sz="1900" dirty="0"/>
          </a:p>
        </p:txBody>
      </p:sp>
      <p:sp>
        <p:nvSpPr>
          <p:cNvPr id="511" name="Google Shape;511;p4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2371</Words>
  <Application>Microsoft Office PowerPoint</Application>
  <PresentationFormat>Panorámica</PresentationFormat>
  <Paragraphs>491</Paragraphs>
  <Slides>30</Slides>
  <Notes>30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30</vt:i4>
      </vt:variant>
    </vt:vector>
  </HeadingPairs>
  <TitlesOfParts>
    <vt:vector size="36" baseType="lpstr">
      <vt:lpstr>Gill Sans</vt:lpstr>
      <vt:lpstr>Arial</vt:lpstr>
      <vt:lpstr>Calibri</vt:lpstr>
      <vt:lpstr>Cambria</vt:lpstr>
      <vt:lpstr>Noto Sans Symbols</vt:lpstr>
      <vt:lpstr>Dividendo</vt:lpstr>
      <vt:lpstr>MANUAL TÉCNICO RESTFUL JAVA SINBDD GR09</vt:lpstr>
      <vt:lpstr>Presentación de PowerPoint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CONCLUSIONES</vt:lpstr>
      <vt:lpstr>RECOMENDACIONES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MANUAL CONVUNI SOAP JAVA</dc:title>
  <dc:creator>Michael Villarruel</dc:creator>
  <cp:lastModifiedBy>Gabriel Murillo Medina</cp:lastModifiedBy>
  <cp:revision>5</cp:revision>
  <dcterms:created xsi:type="dcterms:W3CDTF">2020-08-13T07:15:02Z</dcterms:created>
  <dcterms:modified xsi:type="dcterms:W3CDTF">2026-10-28T04:31:38Z</dcterms:modified>
</cp:coreProperties>
</file>