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RESTFUL JAVA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JULIO ENRIQUE VICHE CASTILLO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JAVA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Documentar la configuración, arquitectura, ejecución y validación del conversor de unidades. El sistema ofrece clientes de consola, escritorio, web y móvil conectados a un servicio Java de tipo 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RESTful.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0320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RESTFUL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Java 17 con Jersey, Grizzly y Jackson. Puerto 8080 (alterno 8085).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Contexto: /WS_CONV_UNI_RESTFULL_JAVA-1.0-SNAPSHOT/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Rutas: health, auth/login y conversor/{longitud,masa,temperatura}.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Estructura inicial del servidor">
            <a:extLst>
              <a:ext uri="{FF2B5EF4-FFF2-40B4-BE49-F238E27FC236}">
                <a16:creationId xmlns:a16="http://schemas.microsoft.com/office/drawing/2014/main" id="{17E77EA3-1BEA-4179-BF94-998624423603}"/>
              </a:ext>
            </a:extLst>
          </p:cNvPr>
          <p:cNvSpPr/>
          <p:nvPr/>
        </p:nvSpPr>
        <p:spPr>
          <a:xfrm>
            <a:off x="6096000" y="3709191"/>
            <a:ext cx="3131854" cy="21793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inicial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Ajustes del endpoint y dependencias">
            <a:extLst>
              <a:ext uri="{FF2B5EF4-FFF2-40B4-BE49-F238E27FC236}">
                <a16:creationId xmlns:a16="http://schemas.microsoft.com/office/drawing/2014/main" id="{50ACFE48-E015-4B57-A8E4-FBBB537BEA49}"/>
              </a:ext>
            </a:extLst>
          </p:cNvPr>
          <p:cNvSpPr/>
          <p:nvPr/>
        </p:nvSpPr>
        <p:spPr>
          <a:xfrm>
            <a:off x="2953500" y="3716772"/>
            <a:ext cx="3480507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Ajustes del endpoint y dependencias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oyecto Maven y configuración del servidor">
            <a:extLst>
              <a:ext uri="{FF2B5EF4-FFF2-40B4-BE49-F238E27FC236}">
                <a16:creationId xmlns:a16="http://schemas.microsoft.com/office/drawing/2014/main" id="{BF619C64-20BD-4F4D-BA92-6F9DFDBD2226}"/>
              </a:ext>
            </a:extLst>
          </p:cNvPr>
          <p:cNvSpPr/>
          <p:nvPr/>
        </p:nvSpPr>
        <p:spPr>
          <a:xfrm>
            <a:off x="234986" y="3724354"/>
            <a:ext cx="3249332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Maven y configuración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RESTFUL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La API recibe solicitudes HTTP/JSON en el contexto configurado por ServidorRestMain.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Rutas: health, auth/login y conversor/longitud, conversor/masa, conversor/temperatura.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Responde con JSON; autentica al usuario antes de convertir.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 recursos y formato de respuesta">
            <a:extLst>
              <a:ext uri="{FF2B5EF4-FFF2-40B4-BE49-F238E27FC236}">
                <a16:creationId xmlns:a16="http://schemas.microsoft.com/office/drawing/2014/main" id="{C7E1E34B-54B3-4282-9A1E-9BDE3F598B2F}"/>
              </a:ext>
            </a:extLst>
          </p:cNvPr>
          <p:cNvSpPr/>
          <p:nvPr/>
        </p:nvSpPr>
        <p:spPr>
          <a:xfrm>
            <a:off x="3174120" y="3429000"/>
            <a:ext cx="5843760" cy="296484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 recursos y formato de respuesta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Dependencias de servicios SOAP/REST">
            <a:extLst>
              <a:ext uri="{FF2B5EF4-FFF2-40B4-BE49-F238E27FC236}">
                <a16:creationId xmlns:a16="http://schemas.microsoft.com/office/drawing/2014/main" id="{6227344A-0244-4E95-94DB-D55E648FE2B9}"/>
              </a:ext>
            </a:extLst>
          </p:cNvPr>
          <p:cNvSpPr/>
          <p:nvPr/>
        </p:nvSpPr>
        <p:spPr>
          <a:xfrm>
            <a:off x="916342" y="3401152"/>
            <a:ext cx="2105025" cy="88582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Dependencias Jersey y modelos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Jersey registra los recursos REST; Grizzly ofrece el servidor HTTP embebido y Jackson procesa JSON. Las clases de servicio centralizan la autenticación y las fórmulas de conversión.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se mantienen en memoria, sin acceso a base de datos.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Paquetes y componentes del servidor">
            <a:extLst>
              <a:ext uri="{FF2B5EF4-FFF2-40B4-BE49-F238E27FC236}">
                <a16:creationId xmlns:a16="http://schemas.microsoft.com/office/drawing/2014/main" id="{454DCE1A-E548-4B0A-A877-3DAA336DC380}"/>
              </a:ext>
            </a:extLst>
          </p:cNvPr>
          <p:cNvSpPr/>
          <p:nvPr/>
        </p:nvSpPr>
        <p:spPr>
          <a:xfrm>
            <a:off x="5749937" y="2870106"/>
            <a:ext cx="3268557" cy="20335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Paquetes y componentes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VERIFICACIÓN DE LA API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Base: /WS_CONV_UNI_RESTFULL_JAVA-1.0-SNAPSHOT/. Valida health y auth/login; prueba conversor/longitud, /masa y /temperatura.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Puertos: 8080 y 8085.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ódigo de publicación o registro de recursos">
            <a:extLst>
              <a:ext uri="{FF2B5EF4-FFF2-40B4-BE49-F238E27FC236}">
                <a16:creationId xmlns:a16="http://schemas.microsoft.com/office/drawing/2014/main" id="{AEDAC15D-A3D3-404F-9C5F-945CC788CB4C}"/>
              </a:ext>
            </a:extLst>
          </p:cNvPr>
          <p:cNvSpPr/>
          <p:nvPr/>
        </p:nvSpPr>
        <p:spPr>
          <a:xfrm>
            <a:off x="3875414" y="2817286"/>
            <a:ext cx="4441055" cy="36154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Código de publicación o registro de recursos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puesta del servicio">
            <a:extLst>
              <a:ext uri="{FF2B5EF4-FFF2-40B4-BE49-F238E27FC236}">
                <a16:creationId xmlns:a16="http://schemas.microsoft.com/office/drawing/2014/main" id="{B2C4A3B8-9E3D-4E18-9BFA-696E1A7A9839}"/>
              </a:ext>
            </a:extLst>
          </p:cNvPr>
          <p:cNvSpPr/>
          <p:nvPr/>
        </p:nvSpPr>
        <p:spPr>
          <a:xfrm>
            <a:off x="5818100" y="4415104"/>
            <a:ext cx="2808980" cy="207069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Respuesta del servicio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Prueba de conversión de temperatura">
            <a:extLst>
              <a:ext uri="{FF2B5EF4-FFF2-40B4-BE49-F238E27FC236}">
                <a16:creationId xmlns:a16="http://schemas.microsoft.com/office/drawing/2014/main" id="{465518C2-7DAD-4640-87B0-13850D7F0BF1}"/>
              </a:ext>
            </a:extLst>
          </p:cNvPr>
          <p:cNvSpPr/>
          <p:nvPr/>
        </p:nvSpPr>
        <p:spPr>
          <a:xfrm>
            <a:off x="2961150" y="4415104"/>
            <a:ext cx="2761232" cy="21726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temperatura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ueba de conversión de masa">
            <a:extLst>
              <a:ext uri="{FF2B5EF4-FFF2-40B4-BE49-F238E27FC236}">
                <a16:creationId xmlns:a16="http://schemas.microsoft.com/office/drawing/2014/main" id="{C0532E73-4590-4CA0-9537-FB9AAEE1A6CE}"/>
              </a:ext>
            </a:extLst>
          </p:cNvPr>
          <p:cNvSpPr/>
          <p:nvPr/>
        </p:nvSpPr>
        <p:spPr>
          <a:xfrm>
            <a:off x="330934" y="4415104"/>
            <a:ext cx="2630216" cy="20089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masa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Prueba de conversión de longitud">
            <a:extLst>
              <a:ext uri="{FF2B5EF4-FFF2-40B4-BE49-F238E27FC236}">
                <a16:creationId xmlns:a16="http://schemas.microsoft.com/office/drawing/2014/main" id="{2D1CD486-4A7B-4EB5-9791-8DAA5B3291E4}"/>
              </a:ext>
            </a:extLst>
          </p:cNvPr>
          <p:cNvSpPr/>
          <p:nvPr/>
        </p:nvSpPr>
        <p:spPr>
          <a:xfrm>
            <a:off x="4671319" y="1994161"/>
            <a:ext cx="2849245" cy="207581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longitud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CAPTURA PENDIENTE - Prueba de autenticación">
            <a:extLst>
              <a:ext uri="{FF2B5EF4-FFF2-40B4-BE49-F238E27FC236}">
                <a16:creationId xmlns:a16="http://schemas.microsoft.com/office/drawing/2014/main" id="{CEB29770-1EED-4DD7-8C23-D733A4854BCB}"/>
              </a:ext>
            </a:extLst>
          </p:cNvPr>
          <p:cNvSpPr/>
          <p:nvPr/>
        </p:nvSpPr>
        <p:spPr>
          <a:xfrm>
            <a:off x="679863" y="2724790"/>
            <a:ext cx="3776665" cy="13451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autenticación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Java con Maven en NetBeans. Configura el cliente HTTP para comunicarse con la API REST y separa modelo, vista y controlador.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solicita las credenciales antes de mostrar las opciones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l cliente de consola">
            <a:extLst>
              <a:ext uri="{FF2B5EF4-FFF2-40B4-BE49-F238E27FC236}">
                <a16:creationId xmlns:a16="http://schemas.microsoft.com/office/drawing/2014/main" id="{470F980C-FB47-44A7-A8A8-971BCFC63D51}"/>
              </a:ext>
            </a:extLst>
          </p:cNvPr>
          <p:cNvSpPr/>
          <p:nvPr/>
        </p:nvSpPr>
        <p:spPr>
          <a:xfrm>
            <a:off x="4740234" y="3657435"/>
            <a:ext cx="4201160" cy="284543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cliente de consola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reación del proyecto Java Maven">
            <a:extLst>
              <a:ext uri="{FF2B5EF4-FFF2-40B4-BE49-F238E27FC236}">
                <a16:creationId xmlns:a16="http://schemas.microsoft.com/office/drawing/2014/main" id="{85E12E47-F5C4-4ED2-9344-5707D2189E30}"/>
              </a:ext>
            </a:extLst>
          </p:cNvPr>
          <p:cNvSpPr/>
          <p:nvPr/>
        </p:nvSpPr>
        <p:spPr>
          <a:xfrm>
            <a:off x="466506" y="3674580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del proyecto Java Maven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la magnitud, el valor y las unidades que se enviarán en el cuerpo JSON.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usa RestClient para invocar la API HTTP, interpretar la respuesta JSON y presentar el resultado.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 y cliente de servicio">
            <a:extLst>
              <a:ext uri="{FF2B5EF4-FFF2-40B4-BE49-F238E27FC236}">
                <a16:creationId xmlns:a16="http://schemas.microsoft.com/office/drawing/2014/main" id="{EC1BEABE-3CC2-47C6-878A-D718228FE067}"/>
              </a:ext>
            </a:extLst>
          </p:cNvPr>
          <p:cNvSpPr/>
          <p:nvPr/>
        </p:nvSpPr>
        <p:spPr>
          <a:xfrm>
            <a:off x="4100618" y="4064763"/>
            <a:ext cx="5172027" cy="177748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 y cliente de servicio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Modelo de solicitud de conversión">
            <a:extLst>
              <a:ext uri="{FF2B5EF4-FFF2-40B4-BE49-F238E27FC236}">
                <a16:creationId xmlns:a16="http://schemas.microsoft.com/office/drawing/2014/main" id="{F56BC7F3-638C-483C-977F-A1DD0317B91F}"/>
              </a:ext>
            </a:extLst>
          </p:cNvPr>
          <p:cNvSpPr/>
          <p:nvPr/>
        </p:nvSpPr>
        <p:spPr>
          <a:xfrm>
            <a:off x="811793" y="4064763"/>
            <a:ext cx="2955257" cy="18504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Modelo de solicitud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Menú y vista del cliente de consola">
            <a:extLst>
              <a:ext uri="{FF2B5EF4-FFF2-40B4-BE49-F238E27FC236}">
                <a16:creationId xmlns:a16="http://schemas.microsoft.com/office/drawing/2014/main" id="{7ED2DC89-90CA-4D4C-8DDE-39E28A817C05}"/>
              </a:ext>
            </a:extLst>
          </p:cNvPr>
          <p:cNvSpPr/>
          <p:nvPr/>
        </p:nvSpPr>
        <p:spPr>
          <a:xfrm>
            <a:off x="4361215" y="2617179"/>
            <a:ext cx="4878474" cy="260924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Menú y vista del cliente de consola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ultado de conversión">
            <a:extLst>
              <a:ext uri="{FF2B5EF4-FFF2-40B4-BE49-F238E27FC236}">
                <a16:creationId xmlns:a16="http://schemas.microsoft.com/office/drawing/2014/main" id="{E21B58B1-4044-4DC0-8DA3-EB703ACEED95}"/>
              </a:ext>
            </a:extLst>
          </p:cNvPr>
          <p:cNvSpPr/>
          <p:nvPr/>
        </p:nvSpPr>
        <p:spPr>
          <a:xfrm>
            <a:off x="6143877" y="3004463"/>
            <a:ext cx="2928406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Resultado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Selección de magnitud y unidades">
            <a:extLst>
              <a:ext uri="{FF2B5EF4-FFF2-40B4-BE49-F238E27FC236}">
                <a16:creationId xmlns:a16="http://schemas.microsoft.com/office/drawing/2014/main" id="{E4CAECE9-3FFC-4C88-A4D5-375779427E2C}"/>
              </a:ext>
            </a:extLst>
          </p:cNvPr>
          <p:cNvSpPr/>
          <p:nvPr/>
        </p:nvSpPr>
        <p:spPr>
          <a:xfrm>
            <a:off x="3227647" y="3004463"/>
            <a:ext cx="280830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Selección de magnitud y unidades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Autenticación correcta">
            <a:extLst>
              <a:ext uri="{FF2B5EF4-FFF2-40B4-BE49-F238E27FC236}">
                <a16:creationId xmlns:a16="http://schemas.microsoft.com/office/drawing/2014/main" id="{3A66B1A8-66BC-4834-9397-19290233A0F8}"/>
              </a:ext>
            </a:extLst>
          </p:cNvPr>
          <p:cNvSpPr/>
          <p:nvPr/>
        </p:nvSpPr>
        <p:spPr>
          <a:xfrm>
            <a:off x="311657" y="3004463"/>
            <a:ext cx="280806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Autenticación correcta</a:t>
            </a:r>
          </a:p>
        </p:txBody>
      </p:sp>
      <p:sp>
        <p:nvSpPr>
          <p:cNvPr id="5" name="CAPTURA PENDIENTE - Inicio del cliente">
            <a:extLst>
              <a:ext uri="{FF2B5EF4-FFF2-40B4-BE49-F238E27FC236}">
                <a16:creationId xmlns:a16="http://schemas.microsoft.com/office/drawing/2014/main" id="{177E390A-90F6-42BA-A0CF-1B58A0837155}"/>
              </a:ext>
            </a:extLst>
          </p:cNvPr>
          <p:cNvSpPr/>
          <p:nvPr/>
        </p:nvSpPr>
        <p:spPr>
          <a:xfrm>
            <a:off x="3227647" y="1933668"/>
            <a:ext cx="2868295" cy="8032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Inicio del cliente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PROYECTO – CLIENTE ESCRITORIO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Crea la aplicación Java de escritorio con Maven. La interfaz Swing consume la API REST y sigue el patrón Modelo-Vista-Controlador.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reación del proyecto de escritorio Java">
            <a:extLst>
              <a:ext uri="{FF2B5EF4-FFF2-40B4-BE49-F238E27FC236}">
                <a16:creationId xmlns:a16="http://schemas.microsoft.com/office/drawing/2014/main" id="{663269E7-24D7-4AA2-A226-27FB469FF3D9}"/>
              </a:ext>
            </a:extLst>
          </p:cNvPr>
          <p:cNvSpPr/>
          <p:nvPr/>
        </p:nvSpPr>
        <p:spPr>
          <a:xfrm>
            <a:off x="2544819" y="3270983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del proyecto de escritorio Java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cliente Swing organiza la interfaz, el estado de conversión y el consumo HTTP/JSON con el patrón MVC.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solicitud HTTP/JSON.</a:t>
            </a:r>
            <a:endParaRPr lang="es-EC" dirty="0"/>
          </a:p>
        </p:txBody>
      </p:sp>
      <p:sp>
        <p:nvSpPr>
          <p:cNvPr id="2" name="CAPTURA PENDIENTE - Clases del cliente de escritorio">
            <a:extLst>
              <a:ext uri="{FF2B5EF4-FFF2-40B4-BE49-F238E27FC236}">
                <a16:creationId xmlns:a16="http://schemas.microsoft.com/office/drawing/2014/main" id="{3E48AA06-D457-4923-9F04-A4D9C744287E}"/>
              </a:ext>
            </a:extLst>
          </p:cNvPr>
          <p:cNvSpPr/>
          <p:nvPr/>
        </p:nvSpPr>
        <p:spPr>
          <a:xfrm>
            <a:off x="2474259" y="4377212"/>
            <a:ext cx="3666875" cy="235536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Clases del cliente de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ódigo de controlador">
            <a:extLst>
              <a:ext uri="{FF2B5EF4-FFF2-40B4-BE49-F238E27FC236}">
                <a16:creationId xmlns:a16="http://schemas.microsoft.com/office/drawing/2014/main" id="{43BF684B-EF2E-4949-AFE7-D0BD1F0D762A}"/>
              </a:ext>
            </a:extLst>
          </p:cNvPr>
          <p:cNvSpPr/>
          <p:nvPr/>
        </p:nvSpPr>
        <p:spPr>
          <a:xfrm>
            <a:off x="5925023" y="3893361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Código de controlador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ódigo de modelo">
            <a:extLst>
              <a:ext uri="{FF2B5EF4-FFF2-40B4-BE49-F238E27FC236}">
                <a16:creationId xmlns:a16="http://schemas.microsoft.com/office/drawing/2014/main" id="{111AEBB2-3286-4EF1-88DC-095C99C56314}"/>
              </a:ext>
            </a:extLst>
          </p:cNvPr>
          <p:cNvSpPr/>
          <p:nvPr/>
        </p:nvSpPr>
        <p:spPr>
          <a:xfrm>
            <a:off x="2611811" y="3836431"/>
            <a:ext cx="2476500" cy="342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Código de modelo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Estructura de paquetes MVC">
            <a:extLst>
              <a:ext uri="{FF2B5EF4-FFF2-40B4-BE49-F238E27FC236}">
                <a16:creationId xmlns:a16="http://schemas.microsoft.com/office/drawing/2014/main" id="{BFE6003C-75DA-45A6-B0A3-DFE0CFC4C742}"/>
              </a:ext>
            </a:extLst>
          </p:cNvPr>
          <p:cNvSpPr/>
          <p:nvPr/>
        </p:nvSpPr>
        <p:spPr>
          <a:xfrm>
            <a:off x="5088311" y="2609850"/>
            <a:ext cx="3019425" cy="10287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de paquetes MVC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vista Swing contiene las ventanas de autenticación y conversión. Los controles permiten seleccionar magnitud y unidades, ingresar el valor y consultar el resultado.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Interfaz Swing de autenticación y conversión">
            <a:extLst>
              <a:ext uri="{FF2B5EF4-FFF2-40B4-BE49-F238E27FC236}">
                <a16:creationId xmlns:a16="http://schemas.microsoft.com/office/drawing/2014/main" id="{FD6BCCEA-27B7-4124-B944-480E5C1E86BF}"/>
              </a:ext>
            </a:extLst>
          </p:cNvPr>
          <p:cNvSpPr/>
          <p:nvPr/>
        </p:nvSpPr>
        <p:spPr>
          <a:xfrm>
            <a:off x="699248" y="2831802"/>
            <a:ext cx="8424537" cy="332404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Interfaz Swing de autenticación y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de inicio de sesión del escritorio">
            <a:extLst>
              <a:ext uri="{FF2B5EF4-FFF2-40B4-BE49-F238E27FC236}">
                <a16:creationId xmlns:a16="http://schemas.microsoft.com/office/drawing/2014/main" id="{091CA7AD-0B4C-4DD1-82AB-5CD1430BF9D4}"/>
              </a:ext>
            </a:extLst>
          </p:cNvPr>
          <p:cNvSpPr/>
          <p:nvPr/>
        </p:nvSpPr>
        <p:spPr>
          <a:xfrm>
            <a:off x="581192" y="2329030"/>
            <a:ext cx="5218973" cy="333666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de inicio de sesión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 la API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Formulario de conversión del escritorio">
            <a:extLst>
              <a:ext uri="{FF2B5EF4-FFF2-40B4-BE49-F238E27FC236}">
                <a16:creationId xmlns:a16="http://schemas.microsoft.com/office/drawing/2014/main" id="{8127F732-C93D-4E2A-B778-8E58DD31545F}"/>
              </a:ext>
            </a:extLst>
          </p:cNvPr>
          <p:cNvSpPr/>
          <p:nvPr/>
        </p:nvSpPr>
        <p:spPr>
          <a:xfrm>
            <a:off x="1131103" y="2513572"/>
            <a:ext cx="3898097" cy="311626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de conversión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PROYECTO – CLIENTE WEB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usa Jetty 11 embebido en el puerto 8081. HTML y JavaScript presentan las pantallas; los Servlets gestionan la sesión y las solicitudes HTTP/JSON a la API REST.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figuración de Jetty y Servlets">
            <a:extLst>
              <a:ext uri="{FF2B5EF4-FFF2-40B4-BE49-F238E27FC236}">
                <a16:creationId xmlns:a16="http://schemas.microsoft.com/office/drawing/2014/main" id="{1ED333B1-B57A-47DA-B5B8-5256D401FF3B}"/>
              </a:ext>
            </a:extLst>
          </p:cNvPr>
          <p:cNvSpPr/>
          <p:nvPr/>
        </p:nvSpPr>
        <p:spPr>
          <a:xfrm>
            <a:off x="3863999" y="3524211"/>
            <a:ext cx="4959666" cy="303795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 Jetty y Servlets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structura del cliente web">
            <a:extLst>
              <a:ext uri="{FF2B5EF4-FFF2-40B4-BE49-F238E27FC236}">
                <a16:creationId xmlns:a16="http://schemas.microsoft.com/office/drawing/2014/main" id="{D4EC0DD7-0BA2-43B1-9C3E-B21DA267F73A}"/>
              </a:ext>
            </a:extLst>
          </p:cNvPr>
          <p:cNvSpPr/>
          <p:nvPr/>
        </p:nvSpPr>
        <p:spPr>
          <a:xfrm>
            <a:off x="1211356" y="3839056"/>
            <a:ext cx="2095500" cy="5619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del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página conversor.html ofrece formularios para seleccionar magnitud y unidades, ingresar el valor y mostrar la respuesta. ConversionServlet comunica el cliente web con los recursos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sp>
        <p:nvSpPr>
          <p:cNvPr id="2" name="CAPTURA PENDIENTE - Formulario y respuesta del cliente web">
            <a:extLst>
              <a:ext uri="{FF2B5EF4-FFF2-40B4-BE49-F238E27FC236}">
                <a16:creationId xmlns:a16="http://schemas.microsoft.com/office/drawing/2014/main" id="{50F1EE2D-3E68-4D94-93CB-4966AFFED2EE}"/>
              </a:ext>
            </a:extLst>
          </p:cNvPr>
          <p:cNvSpPr/>
          <p:nvPr/>
        </p:nvSpPr>
        <p:spPr>
          <a:xfrm>
            <a:off x="3679277" y="3132944"/>
            <a:ext cx="3959600" cy="354539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y respuesta del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antalla web de conversión">
            <a:extLst>
              <a:ext uri="{FF2B5EF4-FFF2-40B4-BE49-F238E27FC236}">
                <a16:creationId xmlns:a16="http://schemas.microsoft.com/office/drawing/2014/main" id="{5324AC23-B32E-46E5-90FD-3A5E7DF924FA}"/>
              </a:ext>
            </a:extLst>
          </p:cNvPr>
          <p:cNvSpPr/>
          <p:nvPr/>
        </p:nvSpPr>
        <p:spPr>
          <a:xfrm>
            <a:off x="841168" y="3132944"/>
            <a:ext cx="1448002" cy="90500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web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presenta el formulario de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web de inicio de sesión">
            <a:extLst>
              <a:ext uri="{FF2B5EF4-FFF2-40B4-BE49-F238E27FC236}">
                <a16:creationId xmlns:a16="http://schemas.microsoft.com/office/drawing/2014/main" id="{3F838D8B-14B2-4CD8-9567-BA215EFD5B81}"/>
              </a:ext>
            </a:extLst>
          </p:cNvPr>
          <p:cNvSpPr/>
          <p:nvPr/>
        </p:nvSpPr>
        <p:spPr>
          <a:xfrm>
            <a:off x="2804070" y="2850777"/>
            <a:ext cx="4143559" cy="370870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web de inicio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REST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liente web ejecutándose en el navegador">
            <a:extLst>
              <a:ext uri="{FF2B5EF4-FFF2-40B4-BE49-F238E27FC236}">
                <a16:creationId xmlns:a16="http://schemas.microsoft.com/office/drawing/2014/main" id="{3BC82B9D-141E-4A6F-B487-EA586761DCF3}"/>
              </a:ext>
            </a:extLst>
          </p:cNvPr>
          <p:cNvSpPr/>
          <p:nvPr/>
        </p:nvSpPr>
        <p:spPr>
          <a:xfrm>
            <a:off x="3135268" y="3257334"/>
            <a:ext cx="3200847" cy="3086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Cliente web ejecutándose en el navegador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Autenticación en el cliente web">
            <a:extLst>
              <a:ext uri="{FF2B5EF4-FFF2-40B4-BE49-F238E27FC236}">
                <a16:creationId xmlns:a16="http://schemas.microsoft.com/office/drawing/2014/main" id="{C394E801-C15E-45DC-B260-08AA3ABADAE5}"/>
              </a:ext>
            </a:extLst>
          </p:cNvPr>
          <p:cNvSpPr/>
          <p:nvPr/>
        </p:nvSpPr>
        <p:spPr>
          <a:xfrm>
            <a:off x="803359" y="2804085"/>
            <a:ext cx="5399405" cy="2755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Autenticación en 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envía una solicitud JSON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versión realizada desde el cliente web">
            <a:extLst>
              <a:ext uri="{FF2B5EF4-FFF2-40B4-BE49-F238E27FC236}">
                <a16:creationId xmlns:a16="http://schemas.microsoft.com/office/drawing/2014/main" id="{9BC455B7-E39D-443C-87AE-7A64222F6181}"/>
              </a:ext>
            </a:extLst>
          </p:cNvPr>
          <p:cNvSpPr/>
          <p:nvPr/>
        </p:nvSpPr>
        <p:spPr>
          <a:xfrm>
            <a:off x="3686896" y="2718547"/>
            <a:ext cx="5399405" cy="281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realizada desde 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Android con Java y una actividad vacía. Usa HttpURLConnection y org.json para consumir la API REST.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Configura una dirección de host accesible desde el emulador o dispositivo físico.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figuración del proyecto y dependencia cliente">
            <a:extLst>
              <a:ext uri="{FF2B5EF4-FFF2-40B4-BE49-F238E27FC236}">
                <a16:creationId xmlns:a16="http://schemas.microsoft.com/office/drawing/2014/main" id="{50C86C09-A255-49F6-9411-BB349FB96D6B}"/>
              </a:ext>
            </a:extLst>
          </p:cNvPr>
          <p:cNvSpPr/>
          <p:nvPr/>
        </p:nvSpPr>
        <p:spPr>
          <a:xfrm>
            <a:off x="904275" y="5528800"/>
            <a:ext cx="4335775" cy="599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proyecto y dependencia cliente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reación de actividad Android">
            <a:extLst>
              <a:ext uri="{FF2B5EF4-FFF2-40B4-BE49-F238E27FC236}">
                <a16:creationId xmlns:a16="http://schemas.microsoft.com/office/drawing/2014/main" id="{25DA522F-0895-4629-81B9-37D7BCB50BF3}"/>
              </a:ext>
            </a:extLst>
          </p:cNvPr>
          <p:cNvSpPr/>
          <p:nvPr/>
        </p:nvSpPr>
        <p:spPr>
          <a:xfrm>
            <a:off x="5410937" y="4209124"/>
            <a:ext cx="3622500" cy="191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 actividad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aptura del módulo descrito en esta diapositiva">
            <a:extLst>
              <a:ext uri="{FF2B5EF4-FFF2-40B4-BE49-F238E27FC236}">
                <a16:creationId xmlns:a16="http://schemas.microsoft.com/office/drawing/2014/main" id="{554899BC-2CDC-4865-BB5B-01E3D2D8969A}"/>
              </a:ext>
            </a:extLst>
          </p:cNvPr>
          <p:cNvSpPr/>
          <p:nvPr/>
        </p:nvSpPr>
        <p:spPr>
          <a:xfrm>
            <a:off x="6418749" y="2402189"/>
            <a:ext cx="1606875" cy="16918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del módulo descrito en esta diapositiva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aplicación separa actividades de interfaz, controladores, modelos y cliente REST. El patrón MVC organiza el inicio de sesión y el flujo de conversión.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quetes y estructura MVC de Android">
            <a:extLst>
              <a:ext uri="{FF2B5EF4-FFF2-40B4-BE49-F238E27FC236}">
                <a16:creationId xmlns:a16="http://schemas.microsoft.com/office/drawing/2014/main" id="{112061D5-DCD0-40EF-968A-DFC2D04FA81D}"/>
              </a:ext>
            </a:extLst>
          </p:cNvPr>
          <p:cNvSpPr/>
          <p:nvPr/>
        </p:nvSpPr>
        <p:spPr>
          <a:xfrm>
            <a:off x="4741537" y="2559253"/>
            <a:ext cx="3225165" cy="3159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Paquetes y estructura MVC de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Modelo: RestClient.java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Usa HttpURLConnection y org.json para enviar solicitudes HTTP y procesar respuestas JSON.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Controlador: ConversionController.java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recurso REST correspondiente.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 de conversión móvil">
            <a:extLst>
              <a:ext uri="{FF2B5EF4-FFF2-40B4-BE49-F238E27FC236}">
                <a16:creationId xmlns:a16="http://schemas.microsoft.com/office/drawing/2014/main" id="{4B592B61-C742-4195-8165-417B6E42D4FC}"/>
              </a:ext>
            </a:extLst>
          </p:cNvPr>
          <p:cNvSpPr/>
          <p:nvPr/>
        </p:nvSpPr>
        <p:spPr>
          <a:xfrm>
            <a:off x="4980331" y="3429000"/>
            <a:ext cx="3802710" cy="284836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 de conversión móvil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liente SOAP/REST del móvil">
            <a:extLst>
              <a:ext uri="{FF2B5EF4-FFF2-40B4-BE49-F238E27FC236}">
                <a16:creationId xmlns:a16="http://schemas.microsoft.com/office/drawing/2014/main" id="{E833F513-8033-4416-9E1E-E4BA1533EA86}"/>
              </a:ext>
            </a:extLst>
          </p:cNvPr>
          <p:cNvSpPr/>
          <p:nvPr/>
        </p:nvSpPr>
        <p:spPr>
          <a:xfrm>
            <a:off x="491075" y="3711388"/>
            <a:ext cx="3478914" cy="225971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Cliente HTTP/JSON del móvil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 la API REST.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móvil de conversión">
            <a:extLst>
              <a:ext uri="{FF2B5EF4-FFF2-40B4-BE49-F238E27FC236}">
                <a16:creationId xmlns:a16="http://schemas.microsoft.com/office/drawing/2014/main" id="{5D2BE896-C9D6-4451-8421-875BD8CFF0FD}"/>
              </a:ext>
            </a:extLst>
          </p:cNvPr>
          <p:cNvSpPr/>
          <p:nvPr/>
        </p:nvSpPr>
        <p:spPr>
          <a:xfrm>
            <a:off x="5096586" y="3395466"/>
            <a:ext cx="3346888" cy="312125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móvil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antalla móvil de inicio de sesión">
            <a:extLst>
              <a:ext uri="{FF2B5EF4-FFF2-40B4-BE49-F238E27FC236}">
                <a16:creationId xmlns:a16="http://schemas.microsoft.com/office/drawing/2014/main" id="{19BF357B-B2D4-4484-A803-3A3A0B58DA81}"/>
              </a:ext>
            </a:extLst>
          </p:cNvPr>
          <p:cNvSpPr/>
          <p:nvPr/>
        </p:nvSpPr>
        <p:spPr>
          <a:xfrm>
            <a:off x="595071" y="3523400"/>
            <a:ext cx="3704493" cy="229025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móvil de inicio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Ejecuta primero el servidor REST. Luego inicia la aplicación en un emulador o dispositivo Android y verifica el acceso al host y al puerto del servicio (8080 o 8085).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Ejecución en dispositivo físico">
            <a:extLst>
              <a:ext uri="{FF2B5EF4-FFF2-40B4-BE49-F238E27FC236}">
                <a16:creationId xmlns:a16="http://schemas.microsoft.com/office/drawing/2014/main" id="{F7F24898-5E29-416B-B91C-F98BB55D46E4}"/>
              </a:ext>
            </a:extLst>
          </p:cNvPr>
          <p:cNvSpPr/>
          <p:nvPr/>
        </p:nvSpPr>
        <p:spPr>
          <a:xfrm>
            <a:off x="4375360" y="3132224"/>
            <a:ext cx="1577205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dispositivo físico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jecución en emulador">
            <a:extLst>
              <a:ext uri="{FF2B5EF4-FFF2-40B4-BE49-F238E27FC236}">
                <a16:creationId xmlns:a16="http://schemas.microsoft.com/office/drawing/2014/main" id="{2D123914-A870-495A-8538-9F7179BF353B}"/>
              </a:ext>
            </a:extLst>
          </p:cNvPr>
          <p:cNvSpPr/>
          <p:nvPr/>
        </p:nvSpPr>
        <p:spPr>
          <a:xfrm>
            <a:off x="2107289" y="3132225"/>
            <a:ext cx="1720640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emulador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RESTful publica recursos HTTP/JSON que los clientes Java consumen mediante solicitudes web.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recurso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las rutas REST, los modelos JSON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la solicitud,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2371</Words>
  <Application>Microsoft Office PowerPoint</Application>
  <PresentationFormat>Panorámica</PresentationFormat>
  <Paragraphs>491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Gill Sans</vt:lpstr>
      <vt:lpstr>Arial</vt:lpstr>
      <vt:lpstr>Calibri</vt:lpstr>
      <vt:lpstr>Cambria</vt:lpstr>
      <vt:lpstr>Noto Sans Symbols</vt:lpstr>
      <vt:lpstr>Dividendo</vt:lpstr>
      <vt:lpstr>MANUAL TÉCNICO RESTFUL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CONVUNI SOAP JAVA</dc:title>
  <dc:creator>Michael Villarruel</dc:creator>
  <cp:lastModifiedBy>Gabriel Murillo Medina</cp:lastModifiedBy>
  <cp:revision>5</cp:revision>
  <dcterms:created xsi:type="dcterms:W3CDTF">2020-08-13T07:15:02Z</dcterms:created>
  <dcterms:modified xsi:type="dcterms:W3CDTF">2026-10-28T04:31:38Z</dcterms:modified>
</cp:coreProperties>
</file>