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SOAP JAVA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JULIO ENRIQUE VICHE CASTILLO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JAVA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Documentar la configuración, arquitectura, ejecución y validación del conversor de unidades. El sistema ofrece clientes de consola, escritorio, web y móvil conectados a un servicio Java de tipo 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SOAP.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SOAP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Java 11, Jakarta XML Web Services y Metro. Publisher.java publica ambos endpoints en localhost:8080.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Compila desde 04. SERVIDOR con mvn clean package.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Estructura inicial del servidor">
            <a:extLst>
              <a:ext uri="{FF2B5EF4-FFF2-40B4-BE49-F238E27FC236}">
                <a16:creationId xmlns:a16="http://schemas.microsoft.com/office/drawing/2014/main" id="{8F4CF77D-59BB-4DD6-9BE8-8A7DEA0F6D70}"/>
              </a:ext>
            </a:extLst>
          </p:cNvPr>
          <p:cNvSpPr/>
          <p:nvPr/>
        </p:nvSpPr>
        <p:spPr>
          <a:xfrm>
            <a:off x="6096000" y="3709191"/>
            <a:ext cx="3131854" cy="21793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inicial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Ajustes del endpoint y dependencias">
            <a:extLst>
              <a:ext uri="{FF2B5EF4-FFF2-40B4-BE49-F238E27FC236}">
                <a16:creationId xmlns:a16="http://schemas.microsoft.com/office/drawing/2014/main" id="{C2B37573-DD7F-4CE8-A0E8-5D433887D606}"/>
              </a:ext>
            </a:extLst>
          </p:cNvPr>
          <p:cNvSpPr/>
          <p:nvPr/>
        </p:nvSpPr>
        <p:spPr>
          <a:xfrm>
            <a:off x="2953500" y="3716772"/>
            <a:ext cx="3480507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Ajustes del endpoint y dependencias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oyecto Maven y configuración del servidor">
            <a:extLst>
              <a:ext uri="{FF2B5EF4-FFF2-40B4-BE49-F238E27FC236}">
                <a16:creationId xmlns:a16="http://schemas.microsoft.com/office/drawing/2014/main" id="{493BDDFD-617A-44F4-8FC8-D380D1BF3B86}"/>
              </a:ext>
            </a:extLst>
          </p:cNvPr>
          <p:cNvSpPr/>
          <p:nvPr/>
        </p:nvSpPr>
        <p:spPr>
          <a:xfrm>
            <a:off x="234986" y="3724354"/>
            <a:ext cx="3249332" cy="216422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Proyecto Maven y configuración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DEL SERVICIO SOAP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WSDL describe las operaciones SOAP/XML de autenticación y conversión para longitud, masa y 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Autentica al usuario antes de invocar una conversión.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 recursos y formato de respuesta">
            <a:extLst>
              <a:ext uri="{FF2B5EF4-FFF2-40B4-BE49-F238E27FC236}">
                <a16:creationId xmlns:a16="http://schemas.microsoft.com/office/drawing/2014/main" id="{D46C417E-63B1-4351-91FB-17167D2A159B}"/>
              </a:ext>
            </a:extLst>
          </p:cNvPr>
          <p:cNvSpPr/>
          <p:nvPr/>
        </p:nvSpPr>
        <p:spPr>
          <a:xfrm>
            <a:off x="3174120" y="3429000"/>
            <a:ext cx="5843760" cy="296484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 recursos y formato de respuesta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Dependencias de servicios SOAP/REST">
            <a:extLst>
              <a:ext uri="{FF2B5EF4-FFF2-40B4-BE49-F238E27FC236}">
                <a16:creationId xmlns:a16="http://schemas.microsoft.com/office/drawing/2014/main" id="{08E533D8-CA82-48EB-A318-4D404FD2F869}"/>
              </a:ext>
            </a:extLst>
          </p:cNvPr>
          <p:cNvSpPr/>
          <p:nvPr/>
        </p:nvSpPr>
        <p:spPr>
          <a:xfrm>
            <a:off x="916342" y="3401152"/>
            <a:ext cx="2105025" cy="88582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Dependencias de servicios SOAP/REST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La solución separa la publicación del servicio de la lógica de conversión. Publisher inicializa Metro; los endpoints SOAP delegan autenticación y conversiones en las clases de servicio.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de unidades y las fórmulas permanecen en memoria.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Paquetes y componentes del servidor">
            <a:extLst>
              <a:ext uri="{FF2B5EF4-FFF2-40B4-BE49-F238E27FC236}">
                <a16:creationId xmlns:a16="http://schemas.microsoft.com/office/drawing/2014/main" id="{D5A955C8-73DF-4A43-96ED-5C495A39CF5E}"/>
              </a:ext>
            </a:extLst>
          </p:cNvPr>
          <p:cNvSpPr/>
          <p:nvPr/>
        </p:nvSpPr>
        <p:spPr>
          <a:xfrm>
            <a:off x="5749937" y="2870106"/>
            <a:ext cx="3268557" cy="20335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Paquetes y componentes del servidor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PUBLICACIÓN DE ENDPOINTS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Publisher.java inicia Metro en localhost:8080 y publica ServicioAutenticacion y ServicioConversion.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Mantén activo el servidor mientras se ejecutan los clientes Java.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ódigo de publicación o registro de recursos">
            <a:extLst>
              <a:ext uri="{FF2B5EF4-FFF2-40B4-BE49-F238E27FC236}">
                <a16:creationId xmlns:a16="http://schemas.microsoft.com/office/drawing/2014/main" id="{B7CF14C7-A1FB-46CD-9B06-2501C6854F36}"/>
              </a:ext>
            </a:extLst>
          </p:cNvPr>
          <p:cNvSpPr/>
          <p:nvPr/>
        </p:nvSpPr>
        <p:spPr>
          <a:xfrm>
            <a:off x="3875414" y="2817286"/>
            <a:ext cx="4441055" cy="36154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Código de publicación o registro de recursos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puesta del servicio">
            <a:extLst>
              <a:ext uri="{FF2B5EF4-FFF2-40B4-BE49-F238E27FC236}">
                <a16:creationId xmlns:a16="http://schemas.microsoft.com/office/drawing/2014/main" id="{E9114EA8-A636-4E5D-9078-2EE4448E41EF}"/>
              </a:ext>
            </a:extLst>
          </p:cNvPr>
          <p:cNvSpPr/>
          <p:nvPr/>
        </p:nvSpPr>
        <p:spPr>
          <a:xfrm>
            <a:off x="5818100" y="4415104"/>
            <a:ext cx="2808980" cy="207069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Respuesta del servicio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Prueba de conversión de temperatura">
            <a:extLst>
              <a:ext uri="{FF2B5EF4-FFF2-40B4-BE49-F238E27FC236}">
                <a16:creationId xmlns:a16="http://schemas.microsoft.com/office/drawing/2014/main" id="{DEA656A8-E519-47C1-AE44-5E7BD4AF055A}"/>
              </a:ext>
            </a:extLst>
          </p:cNvPr>
          <p:cNvSpPr/>
          <p:nvPr/>
        </p:nvSpPr>
        <p:spPr>
          <a:xfrm>
            <a:off x="2961150" y="4415104"/>
            <a:ext cx="2761232" cy="21726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temperatura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rueba de conversión de masa">
            <a:extLst>
              <a:ext uri="{FF2B5EF4-FFF2-40B4-BE49-F238E27FC236}">
                <a16:creationId xmlns:a16="http://schemas.microsoft.com/office/drawing/2014/main" id="{C2E3AF7B-1C5B-485E-8F00-68AB1DFA319F}"/>
              </a:ext>
            </a:extLst>
          </p:cNvPr>
          <p:cNvSpPr/>
          <p:nvPr/>
        </p:nvSpPr>
        <p:spPr>
          <a:xfrm>
            <a:off x="330934" y="4415104"/>
            <a:ext cx="2630216" cy="20089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masa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Prueba de conversión de longitud">
            <a:extLst>
              <a:ext uri="{FF2B5EF4-FFF2-40B4-BE49-F238E27FC236}">
                <a16:creationId xmlns:a16="http://schemas.microsoft.com/office/drawing/2014/main" id="{C9C3B946-C4DF-42E1-81A6-50079FD40A92}"/>
              </a:ext>
            </a:extLst>
          </p:cNvPr>
          <p:cNvSpPr/>
          <p:nvPr/>
        </p:nvSpPr>
        <p:spPr>
          <a:xfrm>
            <a:off x="4671319" y="1994161"/>
            <a:ext cx="2849245" cy="207581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conversión de longitud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6" name="CAPTURA PENDIENTE - Prueba de autenticación">
            <a:extLst>
              <a:ext uri="{FF2B5EF4-FFF2-40B4-BE49-F238E27FC236}">
                <a16:creationId xmlns:a16="http://schemas.microsoft.com/office/drawing/2014/main" id="{D9C4CD0A-85E6-4476-8C1E-18E66A405171}"/>
              </a:ext>
            </a:extLst>
          </p:cNvPr>
          <p:cNvSpPr/>
          <p:nvPr/>
        </p:nvSpPr>
        <p:spPr>
          <a:xfrm>
            <a:off x="679863" y="2724790"/>
            <a:ext cx="3776665" cy="1345186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Prueba de autenticación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Java con Maven en NetBeans. Configura el consumo de los endpoints SOAP y separa modelo, vista y controlador.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presenta primero el formulario de autenticación y, al validar las credenciales, muestra el menú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Configuración del cliente de consola">
            <a:extLst>
              <a:ext uri="{FF2B5EF4-FFF2-40B4-BE49-F238E27FC236}">
                <a16:creationId xmlns:a16="http://schemas.microsoft.com/office/drawing/2014/main" id="{3A7959C0-C4A0-43B5-A418-6987B537CAD0}"/>
              </a:ext>
            </a:extLst>
          </p:cNvPr>
          <p:cNvSpPr/>
          <p:nvPr/>
        </p:nvSpPr>
        <p:spPr>
          <a:xfrm>
            <a:off x="4740234" y="3657435"/>
            <a:ext cx="4201160" cy="284543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cliente de consola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reación del proyecto Java Maven">
            <a:extLst>
              <a:ext uri="{FF2B5EF4-FFF2-40B4-BE49-F238E27FC236}">
                <a16:creationId xmlns:a16="http://schemas.microsoft.com/office/drawing/2014/main" id="{6398EAC1-FA1A-438E-84B6-8806E14BAE12}"/>
              </a:ext>
            </a:extLst>
          </p:cNvPr>
          <p:cNvSpPr/>
          <p:nvPr/>
        </p:nvSpPr>
        <p:spPr>
          <a:xfrm>
            <a:off x="466506" y="3674580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del proyecto Java Maven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los datos de magnitud, valor y unidades que se envían al servicio.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valida la sesión, prepara las llamadas SOAP y presenta al usuario el resultado de cada conversión.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 y cliente de servicio">
            <a:extLst>
              <a:ext uri="{FF2B5EF4-FFF2-40B4-BE49-F238E27FC236}">
                <a16:creationId xmlns:a16="http://schemas.microsoft.com/office/drawing/2014/main" id="{7DD048F7-291C-4466-917F-C53A70400149}"/>
              </a:ext>
            </a:extLst>
          </p:cNvPr>
          <p:cNvSpPr/>
          <p:nvPr/>
        </p:nvSpPr>
        <p:spPr>
          <a:xfrm>
            <a:off x="4100618" y="4064763"/>
            <a:ext cx="5172027" cy="177748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 y cliente de servicio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Modelo de solicitud de conversión">
            <a:extLst>
              <a:ext uri="{FF2B5EF4-FFF2-40B4-BE49-F238E27FC236}">
                <a16:creationId xmlns:a16="http://schemas.microsoft.com/office/drawing/2014/main" id="{BE1FDCDF-BB08-4024-ACC0-08D4758E0B68}"/>
              </a:ext>
            </a:extLst>
          </p:cNvPr>
          <p:cNvSpPr/>
          <p:nvPr/>
        </p:nvSpPr>
        <p:spPr>
          <a:xfrm>
            <a:off x="811793" y="4064763"/>
            <a:ext cx="2955257" cy="185048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Modelo de solicitud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Menú y vista del cliente de consola">
            <a:extLst>
              <a:ext uri="{FF2B5EF4-FFF2-40B4-BE49-F238E27FC236}">
                <a16:creationId xmlns:a16="http://schemas.microsoft.com/office/drawing/2014/main" id="{86A93331-0F14-4AEA-961B-40B7F4D43301}"/>
              </a:ext>
            </a:extLst>
          </p:cNvPr>
          <p:cNvSpPr/>
          <p:nvPr/>
        </p:nvSpPr>
        <p:spPr>
          <a:xfrm>
            <a:off x="4361215" y="2617179"/>
            <a:ext cx="4878474" cy="260924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Menú y vista del cliente de consola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APTURA PENDIENTE - Resultado de conversión">
            <a:extLst>
              <a:ext uri="{FF2B5EF4-FFF2-40B4-BE49-F238E27FC236}">
                <a16:creationId xmlns:a16="http://schemas.microsoft.com/office/drawing/2014/main" id="{708B9276-A510-45E6-9B14-51584D3088AA}"/>
              </a:ext>
            </a:extLst>
          </p:cNvPr>
          <p:cNvSpPr/>
          <p:nvPr/>
        </p:nvSpPr>
        <p:spPr>
          <a:xfrm>
            <a:off x="6143877" y="3004463"/>
            <a:ext cx="2928406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Resultado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Selección de magnitud y unidades">
            <a:extLst>
              <a:ext uri="{FF2B5EF4-FFF2-40B4-BE49-F238E27FC236}">
                <a16:creationId xmlns:a16="http://schemas.microsoft.com/office/drawing/2014/main" id="{AD0D4F79-D159-4DE7-A355-9CDF12FB1E7D}"/>
              </a:ext>
            </a:extLst>
          </p:cNvPr>
          <p:cNvSpPr/>
          <p:nvPr/>
        </p:nvSpPr>
        <p:spPr>
          <a:xfrm>
            <a:off x="3227647" y="3004463"/>
            <a:ext cx="280830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Selección de magnitud y unidades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Autenticación correcta">
            <a:extLst>
              <a:ext uri="{FF2B5EF4-FFF2-40B4-BE49-F238E27FC236}">
                <a16:creationId xmlns:a16="http://schemas.microsoft.com/office/drawing/2014/main" id="{7F99F7C5-D9BE-4E6B-AE75-5BFAABFDAA28}"/>
              </a:ext>
            </a:extLst>
          </p:cNvPr>
          <p:cNvSpPr/>
          <p:nvPr/>
        </p:nvSpPr>
        <p:spPr>
          <a:xfrm>
            <a:off x="311657" y="3004463"/>
            <a:ext cx="2808061" cy="26436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Autenticación correcta</a:t>
            </a:r>
          </a:p>
        </p:txBody>
      </p:sp>
      <p:sp>
        <p:nvSpPr>
          <p:cNvPr id="5" name="CAPTURA PENDIENTE - Inicio del cliente">
            <a:extLst>
              <a:ext uri="{FF2B5EF4-FFF2-40B4-BE49-F238E27FC236}">
                <a16:creationId xmlns:a16="http://schemas.microsoft.com/office/drawing/2014/main" id="{8E2476A0-8191-4A53-A3DE-FADF4D8205EF}"/>
              </a:ext>
            </a:extLst>
          </p:cNvPr>
          <p:cNvSpPr/>
          <p:nvPr/>
        </p:nvSpPr>
        <p:spPr>
          <a:xfrm>
            <a:off x="3227647" y="1933668"/>
            <a:ext cx="2868295" cy="8032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Inicio del cliente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PROYECTO – CLIENTE ESCRITORIO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Crea la aplicación Java de escritorio con Maven. La interfaz Swing consume los mismos endpoints SOAP y sigue el patrón Modelo-Vista-Controlador.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reación del proyecto de escritorio Java">
            <a:extLst>
              <a:ext uri="{FF2B5EF4-FFF2-40B4-BE49-F238E27FC236}">
                <a16:creationId xmlns:a16="http://schemas.microsoft.com/office/drawing/2014/main" id="{D28BE577-97A7-4289-87EA-2CB12471E21C}"/>
              </a:ext>
            </a:extLst>
          </p:cNvPr>
          <p:cNvSpPr/>
          <p:nvPr/>
        </p:nvSpPr>
        <p:spPr>
          <a:xfrm>
            <a:off x="2544819" y="3270983"/>
            <a:ext cx="4144010" cy="282829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del proyecto de escritorio Java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cliente Swing organiza la interfaz, el estado de conversión y el consumo SOAP con el patrón MVC.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llamada SOAP.</a:t>
            </a:r>
            <a:endParaRPr lang="es-EC" dirty="0"/>
          </a:p>
        </p:txBody>
      </p:sp>
      <p:sp>
        <p:nvSpPr>
          <p:cNvPr id="2" name="CAPTURA PENDIENTE - Clases del cliente de escritorio">
            <a:extLst>
              <a:ext uri="{FF2B5EF4-FFF2-40B4-BE49-F238E27FC236}">
                <a16:creationId xmlns:a16="http://schemas.microsoft.com/office/drawing/2014/main" id="{FC04A46C-F8FC-4B32-89E4-37F1F61238A7}"/>
              </a:ext>
            </a:extLst>
          </p:cNvPr>
          <p:cNvSpPr/>
          <p:nvPr/>
        </p:nvSpPr>
        <p:spPr>
          <a:xfrm>
            <a:off x="2474259" y="4377212"/>
            <a:ext cx="3666875" cy="235536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Clases del cliente de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ódigo de controlador">
            <a:extLst>
              <a:ext uri="{FF2B5EF4-FFF2-40B4-BE49-F238E27FC236}">
                <a16:creationId xmlns:a16="http://schemas.microsoft.com/office/drawing/2014/main" id="{8D27FDBE-3262-425D-901F-736C75C67653}"/>
              </a:ext>
            </a:extLst>
          </p:cNvPr>
          <p:cNvSpPr/>
          <p:nvPr/>
        </p:nvSpPr>
        <p:spPr>
          <a:xfrm>
            <a:off x="5925023" y="3893361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Código de controlador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ódigo de modelo">
            <a:extLst>
              <a:ext uri="{FF2B5EF4-FFF2-40B4-BE49-F238E27FC236}">
                <a16:creationId xmlns:a16="http://schemas.microsoft.com/office/drawing/2014/main" id="{D9BA546A-1E15-4A80-AA57-994B60F099F9}"/>
              </a:ext>
            </a:extLst>
          </p:cNvPr>
          <p:cNvSpPr/>
          <p:nvPr/>
        </p:nvSpPr>
        <p:spPr>
          <a:xfrm>
            <a:off x="2611811" y="3836431"/>
            <a:ext cx="2476500" cy="342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pt-BR" sz="900" i="1">
                <a:solidFill>
                  <a:srgbClr val="666666"/>
                </a:solidFill>
                <a:latin typeface="Arial" panose="020B0604020202020204" pitchFamily="34" charset="0"/>
              </a:rPr>
              <a:t>Código de modelo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5" name="CAPTURA PENDIENTE - Estructura de paquetes MVC">
            <a:extLst>
              <a:ext uri="{FF2B5EF4-FFF2-40B4-BE49-F238E27FC236}">
                <a16:creationId xmlns:a16="http://schemas.microsoft.com/office/drawing/2014/main" id="{B197BBDF-1B0B-4C10-9B0A-1F8D65F9C273}"/>
              </a:ext>
            </a:extLst>
          </p:cNvPr>
          <p:cNvSpPr/>
          <p:nvPr/>
        </p:nvSpPr>
        <p:spPr>
          <a:xfrm>
            <a:off x="5088311" y="2609850"/>
            <a:ext cx="3019425" cy="10287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de paquetes MVC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vista Swing contiene las ventanas de autenticación y conversión. Los controles permiten seleccionar magnitud y unidades, ingresar el valor y consultar el resultado.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Interfaz Swing de autenticación y conversión">
            <a:extLst>
              <a:ext uri="{FF2B5EF4-FFF2-40B4-BE49-F238E27FC236}">
                <a16:creationId xmlns:a16="http://schemas.microsoft.com/office/drawing/2014/main" id="{72D8D44A-0A8E-4206-9ECA-659FC89E010E}"/>
              </a:ext>
            </a:extLst>
          </p:cNvPr>
          <p:cNvSpPr/>
          <p:nvPr/>
        </p:nvSpPr>
        <p:spPr>
          <a:xfrm>
            <a:off x="699248" y="2831802"/>
            <a:ext cx="8424537" cy="332404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Interfaz Swing de autenticación y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de inicio de sesión del escritorio">
            <a:extLst>
              <a:ext uri="{FF2B5EF4-FFF2-40B4-BE49-F238E27FC236}">
                <a16:creationId xmlns:a16="http://schemas.microsoft.com/office/drawing/2014/main" id="{DDBE8347-1A58-405A-86AC-1D65FA07AFBF}"/>
              </a:ext>
            </a:extLst>
          </p:cNvPr>
          <p:cNvSpPr/>
          <p:nvPr/>
        </p:nvSpPr>
        <p:spPr>
          <a:xfrm>
            <a:off x="581192" y="2329030"/>
            <a:ext cx="5218973" cy="333666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de inicio de sesión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Formulario de conversión del escritorio">
            <a:extLst>
              <a:ext uri="{FF2B5EF4-FFF2-40B4-BE49-F238E27FC236}">
                <a16:creationId xmlns:a16="http://schemas.microsoft.com/office/drawing/2014/main" id="{E5A38DE0-325D-4447-9F55-51FC2D2555CE}"/>
              </a:ext>
            </a:extLst>
          </p:cNvPr>
          <p:cNvSpPr/>
          <p:nvPr/>
        </p:nvSpPr>
        <p:spPr>
          <a:xfrm>
            <a:off x="1131103" y="2513572"/>
            <a:ext cx="3898097" cy="311626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de conversión del escritorio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PROYECTO – CLIENTE WEB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se ejecuta con Jetty 11 embebido en el puerto 8081. Las vistas HTML/JSP presentan las pantallas; LoginServlet y ConversionServlet gestionan la sesión y las solicitudes SOAP.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figuración de Jetty y Servlets">
            <a:extLst>
              <a:ext uri="{FF2B5EF4-FFF2-40B4-BE49-F238E27FC236}">
                <a16:creationId xmlns:a16="http://schemas.microsoft.com/office/drawing/2014/main" id="{16593287-0CEF-49B8-974F-2F1AE8A0C15E}"/>
              </a:ext>
            </a:extLst>
          </p:cNvPr>
          <p:cNvSpPr/>
          <p:nvPr/>
        </p:nvSpPr>
        <p:spPr>
          <a:xfrm>
            <a:off x="3863999" y="3524211"/>
            <a:ext cx="4959666" cy="3037954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 Jetty y Servlets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structura del cliente web">
            <a:extLst>
              <a:ext uri="{FF2B5EF4-FFF2-40B4-BE49-F238E27FC236}">
                <a16:creationId xmlns:a16="http://schemas.microsoft.com/office/drawing/2014/main" id="{9547CBA9-C1D8-4B24-853B-4A2AF89BF58F}"/>
              </a:ext>
            </a:extLst>
          </p:cNvPr>
          <p:cNvSpPr/>
          <p:nvPr/>
        </p:nvSpPr>
        <p:spPr>
          <a:xfrm>
            <a:off x="1211356" y="3839056"/>
            <a:ext cx="2095500" cy="56197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Estructura del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vistas conversor.html y conversor.jsp ofrecen el formulario de conversión. ConversionServlet comunica el cliente web con el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sp>
        <p:nvSpPr>
          <p:cNvPr id="2" name="CAPTURA PENDIENTE - Formulario y respuesta del cliente web">
            <a:extLst>
              <a:ext uri="{FF2B5EF4-FFF2-40B4-BE49-F238E27FC236}">
                <a16:creationId xmlns:a16="http://schemas.microsoft.com/office/drawing/2014/main" id="{406C6AF6-33CF-47B3-8FB5-DCC2D1E16140}"/>
              </a:ext>
            </a:extLst>
          </p:cNvPr>
          <p:cNvSpPr/>
          <p:nvPr/>
        </p:nvSpPr>
        <p:spPr>
          <a:xfrm>
            <a:off x="3679277" y="3132944"/>
            <a:ext cx="3959600" cy="354539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Formulario y respuesta del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antalla web de conversión">
            <a:extLst>
              <a:ext uri="{FF2B5EF4-FFF2-40B4-BE49-F238E27FC236}">
                <a16:creationId xmlns:a16="http://schemas.microsoft.com/office/drawing/2014/main" id="{5F4C8FCF-4366-4C4F-9FAD-C323C0C23A42}"/>
              </a:ext>
            </a:extLst>
          </p:cNvPr>
          <p:cNvSpPr/>
          <p:nvPr/>
        </p:nvSpPr>
        <p:spPr>
          <a:xfrm>
            <a:off x="841168" y="3132944"/>
            <a:ext cx="1448002" cy="90500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web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y index.jsp ofrecen el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web de inicio de sesión">
            <a:extLst>
              <a:ext uri="{FF2B5EF4-FFF2-40B4-BE49-F238E27FC236}">
                <a16:creationId xmlns:a16="http://schemas.microsoft.com/office/drawing/2014/main" id="{D3F36737-3CBD-4B2C-B211-D67B93A6A9C6}"/>
              </a:ext>
            </a:extLst>
          </p:cNvPr>
          <p:cNvSpPr/>
          <p:nvPr/>
        </p:nvSpPr>
        <p:spPr>
          <a:xfrm>
            <a:off x="2804070" y="2850777"/>
            <a:ext cx="4143559" cy="3708703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web de inicio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SOAP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liente web ejecutándose en el navegador">
            <a:extLst>
              <a:ext uri="{FF2B5EF4-FFF2-40B4-BE49-F238E27FC236}">
                <a16:creationId xmlns:a16="http://schemas.microsoft.com/office/drawing/2014/main" id="{20B3726C-F6B4-45C9-AC26-56D387AC5E00}"/>
              </a:ext>
            </a:extLst>
          </p:cNvPr>
          <p:cNvSpPr/>
          <p:nvPr/>
        </p:nvSpPr>
        <p:spPr>
          <a:xfrm>
            <a:off x="3135268" y="3257334"/>
            <a:ext cx="3200847" cy="3086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Cliente web ejecutándose en el navegador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Autenticación en el cliente web">
            <a:extLst>
              <a:ext uri="{FF2B5EF4-FFF2-40B4-BE49-F238E27FC236}">
                <a16:creationId xmlns:a16="http://schemas.microsoft.com/office/drawing/2014/main" id="{EF175D66-5604-41C8-8DB4-58DDF5F7B0ED}"/>
              </a:ext>
            </a:extLst>
          </p:cNvPr>
          <p:cNvSpPr/>
          <p:nvPr/>
        </p:nvSpPr>
        <p:spPr>
          <a:xfrm>
            <a:off x="803359" y="2804085"/>
            <a:ext cx="5399405" cy="27559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Autenticación en 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solicita la operación al servicio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versión realizada desde el cliente web">
            <a:extLst>
              <a:ext uri="{FF2B5EF4-FFF2-40B4-BE49-F238E27FC236}">
                <a16:creationId xmlns:a16="http://schemas.microsoft.com/office/drawing/2014/main" id="{CF652FE7-A338-4840-BAF2-EB38435440B1}"/>
              </a:ext>
            </a:extLst>
          </p:cNvPr>
          <p:cNvSpPr/>
          <p:nvPr/>
        </p:nvSpPr>
        <p:spPr>
          <a:xfrm>
            <a:off x="3686896" y="2718547"/>
            <a:ext cx="5399405" cy="281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Conversión realizada desde el cliente web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Android con Java y una actividad vacía. Agrega ksoap2-android y configura el acceso al servicio SOAP en localhost:8080.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En emulador o dispositivo físico, usa una dirección de host accesible desde Android.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figuración del proyecto y dependencia cliente">
            <a:extLst>
              <a:ext uri="{FF2B5EF4-FFF2-40B4-BE49-F238E27FC236}">
                <a16:creationId xmlns:a16="http://schemas.microsoft.com/office/drawing/2014/main" id="{7FA02659-968B-436E-8575-1E22FA0ED2B1}"/>
              </a:ext>
            </a:extLst>
          </p:cNvPr>
          <p:cNvSpPr/>
          <p:nvPr/>
        </p:nvSpPr>
        <p:spPr>
          <a:xfrm>
            <a:off x="904275" y="5528800"/>
            <a:ext cx="4335775" cy="599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Configuración del proyecto y dependencia cliente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Creación de actividad Android">
            <a:extLst>
              <a:ext uri="{FF2B5EF4-FFF2-40B4-BE49-F238E27FC236}">
                <a16:creationId xmlns:a16="http://schemas.microsoft.com/office/drawing/2014/main" id="{41284340-73FC-4346-8B2A-67FE8EF1697E}"/>
              </a:ext>
            </a:extLst>
          </p:cNvPr>
          <p:cNvSpPr/>
          <p:nvPr/>
        </p:nvSpPr>
        <p:spPr>
          <a:xfrm>
            <a:off x="5410937" y="4209124"/>
            <a:ext cx="3622500" cy="191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Creación de actividad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aptura del módulo descrito en esta diapositiva">
            <a:extLst>
              <a:ext uri="{FF2B5EF4-FFF2-40B4-BE49-F238E27FC236}">
                <a16:creationId xmlns:a16="http://schemas.microsoft.com/office/drawing/2014/main" id="{4C801D5B-CB78-4EE0-B2EB-3BF11E28CAE4}"/>
              </a:ext>
            </a:extLst>
          </p:cNvPr>
          <p:cNvSpPr/>
          <p:nvPr/>
        </p:nvSpPr>
        <p:spPr>
          <a:xfrm>
            <a:off x="6418749" y="2402189"/>
            <a:ext cx="1606875" cy="16918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del módulo descrito en esta diapositiva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aplicación separa actividades de interfaz, controladores, modelos y cliente SOAP. El patrón MVC organiza el inicio de sesión y el flujo de conversión.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quetes y estructura MVC de Android">
            <a:extLst>
              <a:ext uri="{FF2B5EF4-FFF2-40B4-BE49-F238E27FC236}">
                <a16:creationId xmlns:a16="http://schemas.microsoft.com/office/drawing/2014/main" id="{36702E61-9B71-4603-BAD8-1C10AD2775F5}"/>
              </a:ext>
            </a:extLst>
          </p:cNvPr>
          <p:cNvSpPr/>
          <p:nvPr/>
        </p:nvSpPr>
        <p:spPr>
          <a:xfrm>
            <a:off x="4741537" y="2559253"/>
            <a:ext cx="3225165" cy="3159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Paquetes y estructura MVC de Android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Modelo: SoapClient.java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Usa ksoap2-android para construir solicitudes SOAP y procesar respuestas del servicio.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Controlador: ConversionController.java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endpoint SOAP.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Controlador de conversión móvil">
            <a:extLst>
              <a:ext uri="{FF2B5EF4-FFF2-40B4-BE49-F238E27FC236}">
                <a16:creationId xmlns:a16="http://schemas.microsoft.com/office/drawing/2014/main" id="{760DE4C0-82E6-4314-AB2E-742463D86AE8}"/>
              </a:ext>
            </a:extLst>
          </p:cNvPr>
          <p:cNvSpPr/>
          <p:nvPr/>
        </p:nvSpPr>
        <p:spPr>
          <a:xfrm>
            <a:off x="4980331" y="3429000"/>
            <a:ext cx="3802710" cy="284836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Controlador de conversión móvil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Cliente SOAP/REST del móvil">
            <a:extLst>
              <a:ext uri="{FF2B5EF4-FFF2-40B4-BE49-F238E27FC236}">
                <a16:creationId xmlns:a16="http://schemas.microsoft.com/office/drawing/2014/main" id="{BD4B1769-EB83-4114-B094-A3F8F5C58221}"/>
              </a:ext>
            </a:extLst>
          </p:cNvPr>
          <p:cNvSpPr/>
          <p:nvPr/>
        </p:nvSpPr>
        <p:spPr>
          <a:xfrm>
            <a:off x="491075" y="3711388"/>
            <a:ext cx="3478914" cy="225971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n-US" sz="900" i="1">
                <a:solidFill>
                  <a:srgbClr val="666666"/>
                </a:solidFill>
                <a:latin typeface="Arial" panose="020B0604020202020204" pitchFamily="34" charset="0"/>
              </a:rPr>
              <a:t>Cliente SOAP/REST del móvil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del servicio.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Pantalla móvil de conversión">
            <a:extLst>
              <a:ext uri="{FF2B5EF4-FFF2-40B4-BE49-F238E27FC236}">
                <a16:creationId xmlns:a16="http://schemas.microsoft.com/office/drawing/2014/main" id="{285724F7-4293-4679-9704-747298B3B882}"/>
              </a:ext>
            </a:extLst>
          </p:cNvPr>
          <p:cNvSpPr/>
          <p:nvPr/>
        </p:nvSpPr>
        <p:spPr>
          <a:xfrm>
            <a:off x="5096586" y="3395466"/>
            <a:ext cx="3346888" cy="3121255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móvil de conversión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PTURA PENDIENTE - Pantalla móvil de inicio de sesión">
            <a:extLst>
              <a:ext uri="{FF2B5EF4-FFF2-40B4-BE49-F238E27FC236}">
                <a16:creationId xmlns:a16="http://schemas.microsoft.com/office/drawing/2014/main" id="{04AF29B5-117D-4812-83CA-A17B8CAD3DD2}"/>
              </a:ext>
            </a:extLst>
          </p:cNvPr>
          <p:cNvSpPr/>
          <p:nvPr/>
        </p:nvSpPr>
        <p:spPr>
          <a:xfrm>
            <a:off x="595071" y="3523400"/>
            <a:ext cx="3704493" cy="2290259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Pantalla móvil de inicio de sesión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Ejecuta primero el servidor SOAP. Luego inicia la aplicación en un emulador o dispositivo Android y verifica el acceso a la dirección del host y al puerto 8080.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CAPTURA PENDIENTE - Ejecución en dispositivo físico">
            <a:extLst>
              <a:ext uri="{FF2B5EF4-FFF2-40B4-BE49-F238E27FC236}">
                <a16:creationId xmlns:a16="http://schemas.microsoft.com/office/drawing/2014/main" id="{EFF9EA56-8E4A-4C81-B84A-E7CEC6A7482C}"/>
              </a:ext>
            </a:extLst>
          </p:cNvPr>
          <p:cNvSpPr/>
          <p:nvPr/>
        </p:nvSpPr>
        <p:spPr>
          <a:xfrm>
            <a:off x="4375360" y="3132224"/>
            <a:ext cx="1577205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dispositivo físico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sp>
        <p:nvSpPr>
          <p:cNvPr id="3" name="CAPTURA PENDIENTE - Ejecución en emulador">
            <a:extLst>
              <a:ext uri="{FF2B5EF4-FFF2-40B4-BE49-F238E27FC236}">
                <a16:creationId xmlns:a16="http://schemas.microsoft.com/office/drawing/2014/main" id="{6C8C1FDA-779D-4992-A82B-C2E2CFB93887}"/>
              </a:ext>
            </a:extLst>
          </p:cNvPr>
          <p:cNvSpPr/>
          <p:nvPr/>
        </p:nvSpPr>
        <p:spPr>
          <a:xfrm>
            <a:off x="2107289" y="3132225"/>
            <a:ext cx="1720640" cy="3469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lstStyle/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CAPTURA PENDIENTE</a:t>
            </a:r>
          </a:p>
          <a:p>
            <a:pPr algn="ctr"/>
            <a:r>
              <a:rPr lang="es-ES" sz="900" i="1">
                <a:solidFill>
                  <a:srgbClr val="666666"/>
                </a:solidFill>
                <a:latin typeface="Arial" panose="020B0604020202020204" pitchFamily="34" charset="0"/>
              </a:rPr>
              <a:t>Ejecución en emulador</a:t>
            </a:r>
            <a:endParaRPr lang="en-US" sz="900" i="1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SOAP publica operaciones interoperables que los clientes Java consumen mediante sus herramientas correspondientes.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operación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los endpoints SOAP, los modelos de solicitud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el valor enviado,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2320</Words>
  <Application>Microsoft Office PowerPoint</Application>
  <PresentationFormat>Panorámica</PresentationFormat>
  <Paragraphs>489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Gill Sans</vt:lpstr>
      <vt:lpstr>Arial</vt:lpstr>
      <vt:lpstr>Calibri</vt:lpstr>
      <vt:lpstr>Cambria</vt:lpstr>
      <vt:lpstr>Noto Sans Symbols</vt:lpstr>
      <vt:lpstr>Dividendo</vt:lpstr>
      <vt:lpstr>MANUAL TÉCNICO SOAP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SOAP Java SINBDD GR09</dc:title>
  <dc:creator>Julio Enrique Viche Castillo</dc:creator>
  <cp:lastModifiedBy>Julio Enrique Viche Castillo</cp:lastModifiedBy>
  <cp:revision>5</cp:revision>
  <dcterms:created xsi:type="dcterms:W3CDTF">2026-10-28T05:41:41Z</dcterms:created>
  <dcterms:modified xsi:type="dcterms:W3CDTF">2026-10-28T05:41:41Z</dcterms:modified>
</cp:coreProperties>
</file>